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8" r:id="rId3"/>
    <p:sldId id="259" r:id="rId4"/>
    <p:sldId id="260" r:id="rId5"/>
    <p:sldId id="325" r:id="rId6"/>
    <p:sldId id="262" r:id="rId7"/>
    <p:sldId id="263" r:id="rId8"/>
    <p:sldId id="261" r:id="rId9"/>
    <p:sldId id="264"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24" r:id="rId2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5033" autoAdjust="0"/>
  </p:normalViewPr>
  <p:slideViewPr>
    <p:cSldViewPr>
      <p:cViewPr varScale="1">
        <p:scale>
          <a:sx n="78" d="100"/>
          <a:sy n="78" d="100"/>
        </p:scale>
        <p:origin x="1109" y="72"/>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480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168DBD8-61B9-4BC1-83AA-1A583E32A8D6}" type="datetimeFigureOut">
              <a:rPr lang="en-IN" smtClean="0"/>
              <a:t>07-04-2026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AFC095F-EAEB-4AE8-BBC1-0B5181D16789}" type="slidenum">
              <a:rPr lang="en-IN" smtClean="0"/>
              <a:t>‹#›</a:t>
            </a:fld>
            <a:endParaRPr lang="en-IN"/>
          </a:p>
        </p:txBody>
      </p:sp>
    </p:spTree>
    <p:extLst>
      <p:ext uri="{BB962C8B-B14F-4D97-AF65-F5344CB8AC3E}">
        <p14:creationId xmlns:p14="http://schemas.microsoft.com/office/powerpoint/2010/main" val="3324541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4172" y="257358"/>
            <a:ext cx="8084820" cy="836930"/>
          </a:xfrm>
          <a:prstGeom prst="rect">
            <a:avLst/>
          </a:prstGeom>
        </p:spPr>
        <p:txBody>
          <a:bodyPr wrap="square" lIns="0" tIns="0" rIns="0" bIns="0">
            <a:spAutoFit/>
          </a:bodyPr>
          <a:lstStyle>
            <a:lvl1pPr>
              <a:defRPr sz="3950" b="0" i="0">
                <a:solidFill>
                  <a:srgbClr val="FF0000"/>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963175" y="6283803"/>
            <a:ext cx="2949299" cy="446595"/>
          </a:xfrm>
          <a:prstGeom prst="rect">
            <a:avLst/>
          </a:prstGeom>
        </p:spPr>
      </p:pic>
      <p:sp>
        <p:nvSpPr>
          <p:cNvPr id="2" name="Holder 2"/>
          <p:cNvSpPr>
            <a:spLocks noGrp="1"/>
          </p:cNvSpPr>
          <p:nvPr>
            <p:ph type="title"/>
          </p:nvPr>
        </p:nvSpPr>
        <p:spPr>
          <a:xfrm>
            <a:off x="265747" y="206755"/>
            <a:ext cx="11059160" cy="1146801"/>
          </a:xfrm>
          <a:prstGeom prst="rect">
            <a:avLst/>
          </a:prstGeom>
        </p:spPr>
        <p:txBody>
          <a:bodyPr wrap="square" lIns="0" tIns="0" rIns="0" bIns="0">
            <a:spAutoFit/>
          </a:bodyPr>
          <a:lstStyle>
            <a:lvl1pPr>
              <a:defRPr sz="3950" b="0" i="0">
                <a:solidFill>
                  <a:srgbClr val="FF0000"/>
                </a:solidFill>
                <a:latin typeface="Arial"/>
                <a:cs typeface="Arial"/>
              </a:defRPr>
            </a:lvl1pPr>
          </a:lstStyle>
          <a:p>
            <a:endParaRPr/>
          </a:p>
        </p:txBody>
      </p:sp>
      <p:sp>
        <p:nvSpPr>
          <p:cNvPr id="3" name="Holder 3"/>
          <p:cNvSpPr>
            <a:spLocks noGrp="1"/>
          </p:cNvSpPr>
          <p:nvPr>
            <p:ph type="body" idx="1"/>
          </p:nvPr>
        </p:nvSpPr>
        <p:spPr>
          <a:xfrm>
            <a:off x="1032192" y="1829705"/>
            <a:ext cx="10255885" cy="4067175"/>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248400"/>
          </a:xfrm>
          <a:prstGeom prst="rect">
            <a:avLst/>
          </a:prstGeom>
        </p:spPr>
      </p:pic>
      <p:sp>
        <p:nvSpPr>
          <p:cNvPr id="3" name="object 3" descr="$PPTXTitle"/>
          <p:cNvSpPr txBox="1">
            <a:spLocks noGrp="1"/>
          </p:cNvSpPr>
          <p:nvPr>
            <p:ph type="title"/>
          </p:nvPr>
        </p:nvSpPr>
        <p:spPr>
          <a:xfrm>
            <a:off x="2666999" y="3240468"/>
            <a:ext cx="7929625" cy="645732"/>
          </a:xfrm>
          <a:prstGeom prst="rect">
            <a:avLst/>
          </a:prstGeom>
        </p:spPr>
        <p:txBody>
          <a:bodyPr vert="horz" wrap="square" lIns="0" tIns="16510" rIns="0" bIns="0" rtlCol="0">
            <a:spAutoFit/>
          </a:bodyPr>
          <a:lstStyle/>
          <a:p>
            <a:pPr marL="12700">
              <a:lnSpc>
                <a:spcPct val="100000"/>
              </a:lnSpc>
              <a:spcBef>
                <a:spcPts val="130"/>
              </a:spcBef>
            </a:pPr>
            <a:r>
              <a:rPr lang="en-IN" b="1" dirty="0">
                <a:solidFill>
                  <a:schemeClr val="tx1"/>
                </a:solidFill>
              </a:rPr>
              <a:t>Employee Management System </a:t>
            </a:r>
            <a:endParaRPr spc="85" dirty="0">
              <a:solidFill>
                <a:schemeClr val="tx1"/>
              </a:solidFill>
            </a:endParaRPr>
          </a:p>
        </p:txBody>
      </p:sp>
      <p:sp>
        <p:nvSpPr>
          <p:cNvPr id="4" name="TextBox 3">
            <a:extLst>
              <a:ext uri="{FF2B5EF4-FFF2-40B4-BE49-F238E27FC236}">
                <a16:creationId xmlns:a16="http://schemas.microsoft.com/office/drawing/2014/main" id="{5093E231-FF81-3647-9F69-258723B0412F}"/>
              </a:ext>
            </a:extLst>
          </p:cNvPr>
          <p:cNvSpPr txBox="1"/>
          <p:nvPr/>
        </p:nvSpPr>
        <p:spPr>
          <a:xfrm>
            <a:off x="533400" y="4800600"/>
            <a:ext cx="3276600" cy="1138773"/>
          </a:xfrm>
          <a:prstGeom prst="rect">
            <a:avLst/>
          </a:prstGeom>
          <a:noFill/>
        </p:spPr>
        <p:txBody>
          <a:bodyPr wrap="square" rtlCol="0">
            <a:spAutoFit/>
          </a:bodyPr>
          <a:lstStyle/>
          <a:p>
            <a:r>
              <a:rPr lang="en-IN" sz="2800" b="1" dirty="0">
                <a:solidFill>
                  <a:srgbClr val="FF0000"/>
                </a:solidFill>
                <a:latin typeface="Times New Roman" panose="02020603050405020304" pitchFamily="18" charset="0"/>
                <a:cs typeface="Times New Roman" panose="02020603050405020304" pitchFamily="18" charset="0"/>
              </a:rPr>
              <a:t>Presented by:</a:t>
            </a:r>
          </a:p>
          <a:p>
            <a:r>
              <a:rPr lang="en-IN" sz="2000" b="1" dirty="0">
                <a:latin typeface="Times New Roman" panose="02020603050405020304" pitchFamily="18" charset="0"/>
                <a:cs typeface="Times New Roman" panose="02020603050405020304" pitchFamily="18" charset="0"/>
              </a:rPr>
              <a:t>ARAVIND BHUKYA</a:t>
            </a:r>
          </a:p>
          <a:p>
            <a:r>
              <a:rPr lang="en-IN" sz="2000" b="1" dirty="0">
                <a:latin typeface="Times New Roman" panose="02020603050405020304" pitchFamily="18" charset="0"/>
                <a:cs typeface="Times New Roman" panose="02020603050405020304" pitchFamily="18" charset="0"/>
              </a:rPr>
              <a:t>BATCH NO : 474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800600" y="304800"/>
            <a:ext cx="1771650" cy="632460"/>
          </a:xfrm>
          <a:prstGeom prst="rect">
            <a:avLst/>
          </a:prstGeom>
        </p:spPr>
        <p:txBody>
          <a:bodyPr vert="horz" wrap="square" lIns="0" tIns="16510" rIns="0" bIns="0" rtlCol="0">
            <a:spAutoFit/>
          </a:bodyPr>
          <a:lstStyle/>
          <a:p>
            <a:pPr marL="12700" algn="ctr">
              <a:lnSpc>
                <a:spcPct val="100000"/>
              </a:lnSpc>
              <a:spcBef>
                <a:spcPts val="130"/>
              </a:spcBef>
            </a:pPr>
            <a:r>
              <a:rPr b="1" spc="-120" dirty="0">
                <a:latin typeface="Arial"/>
                <a:cs typeface="Arial"/>
              </a:rPr>
              <a:t>Agenda</a:t>
            </a:r>
          </a:p>
        </p:txBody>
      </p:sp>
      <p:sp>
        <p:nvSpPr>
          <p:cNvPr id="3" name="object 3"/>
          <p:cNvSpPr txBox="1"/>
          <p:nvPr/>
        </p:nvSpPr>
        <p:spPr>
          <a:xfrm>
            <a:off x="685800" y="1447800"/>
            <a:ext cx="8831263" cy="4181273"/>
          </a:xfrm>
          <a:prstGeom prst="rect">
            <a:avLst/>
          </a:prstGeom>
        </p:spPr>
        <p:txBody>
          <a:bodyPr vert="horz" wrap="square" lIns="0" tIns="104775" rIns="0" bIns="0" rtlCol="0">
            <a:spAutoFit/>
          </a:bodyPr>
          <a:lstStyle/>
          <a:p>
            <a:pPr marL="444500" indent="-431800">
              <a:lnSpc>
                <a:spcPct val="100000"/>
              </a:lnSpc>
              <a:spcBef>
                <a:spcPts val="825"/>
              </a:spcBef>
              <a:buFont typeface="Arial"/>
              <a:buChar char="•"/>
              <a:tabLst>
                <a:tab pos="444500" algn="l"/>
              </a:tabLst>
            </a:pPr>
            <a:r>
              <a:rPr sz="2800" spc="-10" dirty="0">
                <a:latin typeface="Times New Roman"/>
                <a:cs typeface="Times New Roman"/>
              </a:rPr>
              <a:t>Introduction</a:t>
            </a:r>
            <a:endParaRPr sz="2800" dirty="0">
              <a:latin typeface="Times New Roman"/>
              <a:cs typeface="Times New Roman"/>
            </a:endParaRPr>
          </a:p>
          <a:p>
            <a:pPr marL="444500" indent="-431800">
              <a:lnSpc>
                <a:spcPct val="100000"/>
              </a:lnSpc>
              <a:spcBef>
                <a:spcPts val="725"/>
              </a:spcBef>
              <a:buFont typeface="Arial"/>
              <a:buChar char="•"/>
              <a:tabLst>
                <a:tab pos="444500" algn="l"/>
              </a:tabLst>
            </a:pPr>
            <a:r>
              <a:rPr sz="2800" dirty="0">
                <a:latin typeface="Times New Roman"/>
                <a:cs typeface="Times New Roman"/>
              </a:rPr>
              <a:t>Objective</a:t>
            </a:r>
            <a:r>
              <a:rPr sz="2800" spc="-35" dirty="0">
                <a:latin typeface="Times New Roman"/>
                <a:cs typeface="Times New Roman"/>
              </a:rPr>
              <a:t> </a:t>
            </a:r>
            <a:r>
              <a:rPr sz="2800" dirty="0">
                <a:latin typeface="Times New Roman"/>
                <a:cs typeface="Times New Roman"/>
              </a:rPr>
              <a:t>of the</a:t>
            </a:r>
            <a:r>
              <a:rPr sz="2800" spc="-40" dirty="0">
                <a:latin typeface="Times New Roman"/>
                <a:cs typeface="Times New Roman"/>
              </a:rPr>
              <a:t> </a:t>
            </a:r>
            <a:r>
              <a:rPr sz="2800" spc="-10" dirty="0">
                <a:latin typeface="Times New Roman"/>
                <a:cs typeface="Times New Roman"/>
              </a:rPr>
              <a:t>Project</a:t>
            </a:r>
            <a:endParaRPr lang="en-US" sz="2800" spc="-10" dirty="0">
              <a:latin typeface="Times New Roman"/>
              <a:cs typeface="Times New Roman"/>
            </a:endParaRPr>
          </a:p>
          <a:p>
            <a:pPr marL="444500" indent="-431800">
              <a:spcBef>
                <a:spcPts val="725"/>
              </a:spcBef>
              <a:buFont typeface="Arial"/>
              <a:buChar char="•"/>
              <a:tabLst>
                <a:tab pos="444500" algn="l"/>
              </a:tabLst>
            </a:pPr>
            <a:r>
              <a:rPr lang="en-IN" sz="2800" dirty="0">
                <a:latin typeface="Times New Roman"/>
                <a:cs typeface="Times New Roman"/>
              </a:rPr>
              <a:t>About</a:t>
            </a:r>
            <a:r>
              <a:rPr lang="en-IN" sz="2800" spc="-35" dirty="0">
                <a:latin typeface="Times New Roman"/>
                <a:cs typeface="Times New Roman"/>
              </a:rPr>
              <a:t> </a:t>
            </a:r>
            <a:r>
              <a:rPr lang="en-IN" sz="2800" spc="-10" dirty="0">
                <a:latin typeface="Times New Roman"/>
                <a:cs typeface="Times New Roman"/>
              </a:rPr>
              <a:t>Tables</a:t>
            </a:r>
            <a:endParaRPr lang="en-IN" sz="2800" dirty="0">
              <a:latin typeface="Times New Roman"/>
              <a:cs typeface="Times New Roman"/>
            </a:endParaRPr>
          </a:p>
          <a:p>
            <a:pPr marL="444500" indent="-431800">
              <a:lnSpc>
                <a:spcPct val="100000"/>
              </a:lnSpc>
              <a:spcBef>
                <a:spcPts val="725"/>
              </a:spcBef>
              <a:buFont typeface="Arial"/>
              <a:buChar char="•"/>
              <a:tabLst>
                <a:tab pos="444500" algn="l"/>
              </a:tabLst>
            </a:pPr>
            <a:r>
              <a:rPr sz="2800" dirty="0">
                <a:latin typeface="Times New Roman"/>
                <a:cs typeface="Times New Roman"/>
              </a:rPr>
              <a:t>ER</a:t>
            </a:r>
            <a:r>
              <a:rPr sz="2800" spc="20" dirty="0">
                <a:latin typeface="Times New Roman"/>
                <a:cs typeface="Times New Roman"/>
              </a:rPr>
              <a:t> </a:t>
            </a:r>
            <a:r>
              <a:rPr sz="2800" dirty="0">
                <a:latin typeface="Times New Roman"/>
                <a:cs typeface="Times New Roman"/>
              </a:rPr>
              <a:t>Diagram</a:t>
            </a:r>
            <a:r>
              <a:rPr sz="2800" spc="-90" dirty="0">
                <a:latin typeface="Times New Roman"/>
                <a:cs typeface="Times New Roman"/>
              </a:rPr>
              <a:t> </a:t>
            </a:r>
            <a:r>
              <a:rPr sz="2800" dirty="0">
                <a:latin typeface="Times New Roman"/>
                <a:cs typeface="Times New Roman"/>
              </a:rPr>
              <a:t>and</a:t>
            </a:r>
            <a:r>
              <a:rPr sz="2800" spc="-30" dirty="0">
                <a:latin typeface="Times New Roman"/>
                <a:cs typeface="Times New Roman"/>
              </a:rPr>
              <a:t> </a:t>
            </a:r>
            <a:r>
              <a:rPr sz="2800" dirty="0">
                <a:latin typeface="Times New Roman"/>
                <a:cs typeface="Times New Roman"/>
              </a:rPr>
              <a:t>schema</a:t>
            </a:r>
            <a:r>
              <a:rPr sz="2800" spc="-40" dirty="0">
                <a:latin typeface="Times New Roman"/>
                <a:cs typeface="Times New Roman"/>
              </a:rPr>
              <a:t> </a:t>
            </a:r>
            <a:r>
              <a:rPr sz="2800" spc="-10" dirty="0">
                <a:latin typeface="Times New Roman"/>
                <a:cs typeface="Times New Roman"/>
              </a:rPr>
              <a:t>explanation</a:t>
            </a:r>
            <a:endParaRPr sz="2800" dirty="0">
              <a:latin typeface="Times New Roman"/>
              <a:cs typeface="Times New Roman"/>
            </a:endParaRPr>
          </a:p>
          <a:p>
            <a:pPr marL="444500" indent="-431800">
              <a:lnSpc>
                <a:spcPct val="100000"/>
              </a:lnSpc>
              <a:spcBef>
                <a:spcPts val="725"/>
              </a:spcBef>
              <a:buFont typeface="Arial"/>
              <a:buChar char="•"/>
              <a:tabLst>
                <a:tab pos="444500" algn="l"/>
              </a:tabLst>
            </a:pPr>
            <a:r>
              <a:rPr sz="2800" dirty="0">
                <a:latin typeface="Times New Roman"/>
                <a:cs typeface="Times New Roman"/>
              </a:rPr>
              <a:t>Key</a:t>
            </a:r>
            <a:r>
              <a:rPr sz="2800" spc="-65" dirty="0">
                <a:latin typeface="Times New Roman"/>
                <a:cs typeface="Times New Roman"/>
              </a:rPr>
              <a:t> </a:t>
            </a:r>
            <a:r>
              <a:rPr sz="2800" dirty="0">
                <a:latin typeface="Times New Roman"/>
                <a:cs typeface="Times New Roman"/>
              </a:rPr>
              <a:t>analysis</a:t>
            </a:r>
            <a:r>
              <a:rPr sz="2800" spc="-20" dirty="0">
                <a:latin typeface="Times New Roman"/>
                <a:cs typeface="Times New Roman"/>
              </a:rPr>
              <a:t> </a:t>
            </a:r>
            <a:r>
              <a:rPr sz="2800" dirty="0">
                <a:latin typeface="Times New Roman"/>
                <a:cs typeface="Times New Roman"/>
              </a:rPr>
              <a:t>questions</a:t>
            </a:r>
            <a:r>
              <a:rPr sz="2800" spc="-25" dirty="0">
                <a:latin typeface="Times New Roman"/>
                <a:cs typeface="Times New Roman"/>
              </a:rPr>
              <a:t> </a:t>
            </a:r>
            <a:r>
              <a:rPr sz="2800" dirty="0">
                <a:latin typeface="Times New Roman"/>
                <a:cs typeface="Times New Roman"/>
              </a:rPr>
              <a:t>(use</a:t>
            </a:r>
            <a:r>
              <a:rPr sz="2800" spc="-80" dirty="0">
                <a:latin typeface="Times New Roman"/>
                <a:cs typeface="Times New Roman"/>
              </a:rPr>
              <a:t> </a:t>
            </a:r>
            <a:r>
              <a:rPr sz="2800" spc="-10" dirty="0">
                <a:latin typeface="Times New Roman"/>
                <a:cs typeface="Times New Roman"/>
              </a:rPr>
              <a:t>cases)</a:t>
            </a:r>
            <a:endParaRPr sz="2800" dirty="0">
              <a:latin typeface="Times New Roman"/>
              <a:cs typeface="Times New Roman"/>
            </a:endParaRPr>
          </a:p>
          <a:p>
            <a:pPr marL="444500" indent="-431800">
              <a:lnSpc>
                <a:spcPct val="100000"/>
              </a:lnSpc>
              <a:spcBef>
                <a:spcPts val="725"/>
              </a:spcBef>
              <a:buFont typeface="Arial"/>
              <a:buChar char="•"/>
              <a:tabLst>
                <a:tab pos="444500" algn="l"/>
              </a:tabLst>
            </a:pPr>
            <a:r>
              <a:rPr sz="2800" dirty="0">
                <a:latin typeface="Times New Roman"/>
                <a:cs typeface="Times New Roman"/>
              </a:rPr>
              <a:t>SQL</a:t>
            </a:r>
            <a:r>
              <a:rPr sz="2800" spc="-75" dirty="0">
                <a:latin typeface="Times New Roman"/>
                <a:cs typeface="Times New Roman"/>
              </a:rPr>
              <a:t> </a:t>
            </a:r>
            <a:r>
              <a:rPr sz="2800" dirty="0">
                <a:latin typeface="Times New Roman"/>
                <a:cs typeface="Times New Roman"/>
              </a:rPr>
              <a:t>query</a:t>
            </a:r>
            <a:r>
              <a:rPr sz="2800" spc="-50" dirty="0">
                <a:latin typeface="Times New Roman"/>
                <a:cs typeface="Times New Roman"/>
              </a:rPr>
              <a:t> </a:t>
            </a:r>
            <a:r>
              <a:rPr sz="2800" dirty="0">
                <a:latin typeface="Times New Roman"/>
                <a:cs typeface="Times New Roman"/>
              </a:rPr>
              <a:t>results</a:t>
            </a:r>
            <a:r>
              <a:rPr sz="2800" spc="-20" dirty="0">
                <a:latin typeface="Times New Roman"/>
                <a:cs typeface="Times New Roman"/>
              </a:rPr>
              <a:t> </a:t>
            </a:r>
            <a:r>
              <a:rPr sz="2800" dirty="0">
                <a:latin typeface="Times New Roman"/>
                <a:cs typeface="Times New Roman"/>
              </a:rPr>
              <a:t>with</a:t>
            </a:r>
            <a:r>
              <a:rPr sz="2800" spc="-40" dirty="0">
                <a:latin typeface="Times New Roman"/>
                <a:cs typeface="Times New Roman"/>
              </a:rPr>
              <a:t> </a:t>
            </a:r>
            <a:r>
              <a:rPr sz="2800" dirty="0">
                <a:latin typeface="Times New Roman"/>
                <a:cs typeface="Times New Roman"/>
              </a:rPr>
              <a:t>screenshots</a:t>
            </a:r>
            <a:r>
              <a:rPr sz="2800" spc="-15" dirty="0">
                <a:latin typeface="Times New Roman"/>
                <a:cs typeface="Times New Roman"/>
              </a:rPr>
              <a:t> </a:t>
            </a:r>
            <a:r>
              <a:rPr sz="2800" dirty="0">
                <a:latin typeface="Times New Roman"/>
                <a:cs typeface="Times New Roman"/>
              </a:rPr>
              <a:t>or</a:t>
            </a:r>
            <a:r>
              <a:rPr sz="2800" spc="-70" dirty="0">
                <a:latin typeface="Times New Roman"/>
                <a:cs typeface="Times New Roman"/>
              </a:rPr>
              <a:t> </a:t>
            </a:r>
            <a:r>
              <a:rPr sz="2800" spc="-10" dirty="0">
                <a:latin typeface="Times New Roman"/>
                <a:cs typeface="Times New Roman"/>
              </a:rPr>
              <a:t>summaries</a:t>
            </a:r>
            <a:endParaRPr sz="2800" dirty="0">
              <a:latin typeface="Times New Roman"/>
              <a:cs typeface="Times New Roman"/>
            </a:endParaRPr>
          </a:p>
          <a:p>
            <a:pPr marL="444500" indent="-431800">
              <a:lnSpc>
                <a:spcPct val="100000"/>
              </a:lnSpc>
              <a:spcBef>
                <a:spcPts val="725"/>
              </a:spcBef>
              <a:buFont typeface="Arial"/>
              <a:buChar char="•"/>
              <a:tabLst>
                <a:tab pos="444500" algn="l"/>
              </a:tabLst>
            </a:pPr>
            <a:r>
              <a:rPr sz="2800" dirty="0">
                <a:latin typeface="Times New Roman"/>
                <a:cs typeface="Times New Roman"/>
              </a:rPr>
              <a:t>Final</a:t>
            </a:r>
            <a:r>
              <a:rPr sz="2800" spc="-30" dirty="0">
                <a:latin typeface="Times New Roman"/>
                <a:cs typeface="Times New Roman"/>
              </a:rPr>
              <a:t> </a:t>
            </a:r>
            <a:r>
              <a:rPr sz="2800" dirty="0">
                <a:latin typeface="Times New Roman"/>
                <a:cs typeface="Times New Roman"/>
              </a:rPr>
              <a:t>business</a:t>
            </a:r>
            <a:r>
              <a:rPr sz="2800" spc="-55" dirty="0">
                <a:latin typeface="Times New Roman"/>
                <a:cs typeface="Times New Roman"/>
              </a:rPr>
              <a:t> </a:t>
            </a:r>
            <a:r>
              <a:rPr sz="2800" dirty="0">
                <a:latin typeface="Times New Roman"/>
                <a:cs typeface="Times New Roman"/>
              </a:rPr>
              <a:t>insights</a:t>
            </a:r>
            <a:r>
              <a:rPr sz="2800" spc="-60" dirty="0">
                <a:latin typeface="Times New Roman"/>
                <a:cs typeface="Times New Roman"/>
              </a:rPr>
              <a:t> </a:t>
            </a:r>
            <a:r>
              <a:rPr sz="2800" dirty="0">
                <a:latin typeface="Times New Roman"/>
                <a:cs typeface="Times New Roman"/>
              </a:rPr>
              <a:t>and</a:t>
            </a:r>
            <a:r>
              <a:rPr sz="2800" spc="-20" dirty="0">
                <a:latin typeface="Times New Roman"/>
                <a:cs typeface="Times New Roman"/>
              </a:rPr>
              <a:t> </a:t>
            </a:r>
            <a:r>
              <a:rPr sz="2800" spc="-10" dirty="0">
                <a:latin typeface="Times New Roman"/>
                <a:cs typeface="Times New Roman"/>
              </a:rPr>
              <a:t>recommendations</a:t>
            </a:r>
            <a:endParaRPr sz="2800" dirty="0">
              <a:latin typeface="Times New Roman"/>
              <a:cs typeface="Times New Roman"/>
            </a:endParaRPr>
          </a:p>
          <a:p>
            <a:pPr marL="444500" indent="-431800">
              <a:lnSpc>
                <a:spcPct val="100000"/>
              </a:lnSpc>
              <a:spcBef>
                <a:spcPts val="725"/>
              </a:spcBef>
              <a:buFont typeface="Arial"/>
              <a:buChar char="•"/>
              <a:tabLst>
                <a:tab pos="444500" algn="l"/>
              </a:tabLst>
            </a:pPr>
            <a:r>
              <a:rPr sz="2800" dirty="0">
                <a:latin typeface="Times New Roman"/>
                <a:cs typeface="Times New Roman"/>
              </a:rPr>
              <a:t>Conclusion</a:t>
            </a:r>
            <a:r>
              <a:rPr sz="2800" spc="-30" dirty="0">
                <a:latin typeface="Times New Roman"/>
                <a:cs typeface="Times New Roman"/>
              </a:rPr>
              <a:t> </a:t>
            </a:r>
            <a:r>
              <a:rPr sz="2800" dirty="0">
                <a:latin typeface="Times New Roman"/>
                <a:cs typeface="Times New Roman"/>
              </a:rPr>
              <a:t>(Key</a:t>
            </a:r>
            <a:r>
              <a:rPr sz="2800" spc="-40" dirty="0">
                <a:latin typeface="Times New Roman"/>
                <a:cs typeface="Times New Roman"/>
              </a:rPr>
              <a:t> </a:t>
            </a:r>
            <a:r>
              <a:rPr sz="2800" dirty="0">
                <a:latin typeface="Times New Roman"/>
                <a:cs typeface="Times New Roman"/>
              </a:rPr>
              <a:t>finding</a:t>
            </a:r>
            <a:r>
              <a:rPr sz="2800" spc="-45" dirty="0">
                <a:latin typeface="Times New Roman"/>
                <a:cs typeface="Times New Roman"/>
              </a:rPr>
              <a:t> </a:t>
            </a:r>
            <a:r>
              <a:rPr sz="2800" spc="-10" dirty="0">
                <a:latin typeface="Times New Roman"/>
                <a:cs typeface="Times New Roman"/>
              </a:rPr>
              <a:t>overall).</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3400" y="533400"/>
            <a:ext cx="2677160" cy="509114"/>
          </a:xfrm>
          <a:prstGeom prst="rect">
            <a:avLst/>
          </a:prstGeom>
        </p:spPr>
        <p:txBody>
          <a:bodyPr vert="horz" wrap="square" lIns="0" tIns="16510" rIns="0" bIns="0" rtlCol="0">
            <a:spAutoFit/>
          </a:bodyPr>
          <a:lstStyle/>
          <a:p>
            <a:pPr marL="12700">
              <a:lnSpc>
                <a:spcPct val="100000"/>
              </a:lnSpc>
              <a:spcBef>
                <a:spcPts val="130"/>
              </a:spcBef>
            </a:pPr>
            <a:r>
              <a:rPr sz="3200" b="1" spc="-10" dirty="0">
                <a:latin typeface="Times New Roman" panose="02020603050405020304" pitchFamily="18" charset="0"/>
                <a:cs typeface="Times New Roman" panose="02020603050405020304" pitchFamily="18" charset="0"/>
              </a:rPr>
              <a:t>Introduction</a:t>
            </a:r>
          </a:p>
        </p:txBody>
      </p:sp>
      <p:sp>
        <p:nvSpPr>
          <p:cNvPr id="3" name="Rectangle 1">
            <a:extLst>
              <a:ext uri="{FF2B5EF4-FFF2-40B4-BE49-F238E27FC236}">
                <a16:creationId xmlns:a16="http://schemas.microsoft.com/office/drawing/2014/main" id="{EEBC6139-9978-45AD-F07E-B6EDA2F93AB5}"/>
              </a:ext>
            </a:extLst>
          </p:cNvPr>
          <p:cNvSpPr>
            <a:spLocks noChangeArrowheads="1"/>
          </p:cNvSpPr>
          <p:nvPr/>
        </p:nvSpPr>
        <p:spPr bwMode="auto">
          <a:xfrm>
            <a:off x="530942" y="1447800"/>
            <a:ext cx="1048856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Employee Management System (EMS) is a SQL-powered platform that brings together all staff information into one organized digital hub.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tracks everything from an employee's personal profile and job role to their professional qualifications and daily attendance.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removes manual errors by automatically calculating final paychecks, factoring in specific bonuses and salary deductions based on leaves.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linking multiple tables, it provides clear insights into company spending, department sizes, and the overall skill level of the workforce.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971800" y="465158"/>
            <a:ext cx="11811000" cy="624530"/>
          </a:xfrm>
          <a:prstGeom prst="rect">
            <a:avLst/>
          </a:prstGeom>
        </p:spPr>
        <p:txBody>
          <a:bodyPr vert="horz" wrap="square" lIns="0" tIns="16510" rIns="0" bIns="0" rtlCol="0">
            <a:spAutoFit/>
          </a:bodyPr>
          <a:lstStyle/>
          <a:p>
            <a:pPr marL="3376929">
              <a:lnSpc>
                <a:spcPct val="100000"/>
              </a:lnSpc>
              <a:spcBef>
                <a:spcPts val="130"/>
              </a:spcBef>
            </a:pPr>
            <a:r>
              <a:rPr dirty="0">
                <a:latin typeface="Tahoma" panose="020B0604030504040204" pitchFamily="34" charset="0"/>
                <a:ea typeface="Tahoma" panose="020B0604030504040204" pitchFamily="34" charset="0"/>
                <a:cs typeface="Tahoma" panose="020B0604030504040204" pitchFamily="34" charset="0"/>
              </a:rPr>
              <a:t>Objective</a:t>
            </a:r>
            <a:endParaRPr spc="-10" dirty="0">
              <a:latin typeface="Tahoma" panose="020B0604030504040204" pitchFamily="34" charset="0"/>
              <a:ea typeface="Tahoma" panose="020B0604030504040204" pitchFamily="34" charset="0"/>
              <a:cs typeface="Tahoma" panose="020B0604030504040204" pitchFamily="34" charset="0"/>
            </a:endParaRPr>
          </a:p>
        </p:txBody>
      </p:sp>
      <p:sp>
        <p:nvSpPr>
          <p:cNvPr id="3" name="object 3"/>
          <p:cNvSpPr txBox="1"/>
          <p:nvPr/>
        </p:nvSpPr>
        <p:spPr>
          <a:xfrm>
            <a:off x="609600" y="1524000"/>
            <a:ext cx="10972800" cy="5153975"/>
          </a:xfrm>
          <a:prstGeom prst="rect">
            <a:avLst/>
          </a:prstGeom>
        </p:spPr>
        <p:txBody>
          <a:bodyPr vert="horz" wrap="square" lIns="0" tIns="16510" rIns="0" bIns="0" rtlCol="0">
            <a:spAutoFit/>
          </a:bodyPr>
          <a:lstStyle/>
          <a:p>
            <a:pPr marL="298450" indent="-285750" algn="just">
              <a:lnSpc>
                <a:spcPct val="100000"/>
              </a:lnSpc>
              <a:spcBef>
                <a:spcPts val="130"/>
              </a:spcBef>
              <a:buFont typeface="Wingdings"/>
              <a:buChar char=""/>
              <a:tabLst>
                <a:tab pos="298450" algn="l"/>
              </a:tabLst>
            </a:pPr>
            <a:r>
              <a:rPr lang="en-US" sz="2400" dirty="0">
                <a:latin typeface="Times New Roman" panose="02020603050405020304" pitchFamily="18" charset="0"/>
                <a:cs typeface="Times New Roman" panose="02020603050405020304" pitchFamily="18" charset="0"/>
              </a:rPr>
              <a:t>To design and implement a system that efficiently stores and manages employee-related data, including job roles, salary, and payroll .</a:t>
            </a:r>
          </a:p>
          <a:p>
            <a:pPr marL="298450" indent="-285750" algn="just">
              <a:lnSpc>
                <a:spcPct val="100000"/>
              </a:lnSpc>
              <a:spcBef>
                <a:spcPts val="130"/>
              </a:spcBef>
              <a:buFont typeface="Wingdings"/>
              <a:buChar char=""/>
              <a:tabLst>
                <a:tab pos="298450" algn="l"/>
              </a:tabLst>
            </a:pPr>
            <a:r>
              <a:rPr lang="en-US" sz="2400" dirty="0">
                <a:latin typeface="Times New Roman" panose="02020603050405020304" pitchFamily="18" charset="0"/>
                <a:cs typeface="Times New Roman" panose="02020603050405020304" pitchFamily="18" charset="0"/>
              </a:rPr>
              <a:t>Keeps everything in one place of all employee details</a:t>
            </a:r>
          </a:p>
          <a:p>
            <a:pPr marL="298450" indent="-285750" algn="just">
              <a:lnSpc>
                <a:spcPct val="100000"/>
              </a:lnSpc>
              <a:spcBef>
                <a:spcPts val="130"/>
              </a:spcBef>
              <a:buFont typeface="Wingdings"/>
              <a:buChar char=""/>
              <a:tabLst>
                <a:tab pos="298450" algn="l"/>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automatically calculates monthly pay and bonuses so HR doesn't have to do it manually.</a:t>
            </a:r>
          </a:p>
          <a:p>
            <a:pPr marL="298450" indent="-285750" algn="just">
              <a:lnSpc>
                <a:spcPct val="100000"/>
              </a:lnSpc>
              <a:spcBef>
                <a:spcPts val="130"/>
              </a:spcBef>
              <a:buFont typeface="Wingdings"/>
              <a:buChar char=""/>
              <a:tabLst>
                <a:tab pos="29845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Tracks Attendance: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keeps a clear record of when employees take sick leave or vacation days.</a:t>
            </a:r>
          </a:p>
          <a:p>
            <a:pPr marL="298450" indent="-285750" algn="just">
              <a:lnSpc>
                <a:spcPct val="100000"/>
              </a:lnSpc>
              <a:spcBef>
                <a:spcPts val="130"/>
              </a:spcBef>
              <a:buFont typeface="Wingdings"/>
              <a:buChar char=""/>
              <a:tabLst>
                <a:tab pos="29845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connecting different tables (like "Employees" and "Departments"), it makes sure that if an employee's info changes, the whole system updates correctly.</a:t>
            </a:r>
          </a:p>
          <a:p>
            <a:pPr marL="298450" indent="-285750" algn="just">
              <a:lnSpc>
                <a:spcPct val="100000"/>
              </a:lnSpc>
              <a:spcBef>
                <a:spcPts val="130"/>
              </a:spcBef>
              <a:buFont typeface="Wingdings"/>
              <a:buChar char=""/>
              <a:tabLst>
                <a:tab pos="29845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Time: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allows managers to quickly search for information, like "who are the top performers?" or "which department is the most expensive?".</a:t>
            </a:r>
          </a:p>
          <a:p>
            <a:pPr marL="298450" indent="-285750" algn="just">
              <a:lnSpc>
                <a:spcPct val="100000"/>
              </a:lnSpc>
              <a:spcBef>
                <a:spcPts val="130"/>
              </a:spcBef>
              <a:buFont typeface="Wingdings"/>
              <a:buChar char=""/>
              <a:tabLst>
                <a:tab pos="298450" algn="l"/>
              </a:tabLst>
            </a:pPr>
            <a:endParaRPr lang="en-US" sz="2000"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DEA41-8E43-03DD-7C04-4EAB087155E5}"/>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AB6EE6DE-D5F3-E5C0-4233-48A16EAF901C}"/>
              </a:ext>
            </a:extLst>
          </p:cNvPr>
          <p:cNvSpPr txBox="1">
            <a:spLocks noGrp="1"/>
          </p:cNvSpPr>
          <p:nvPr>
            <p:ph type="title"/>
          </p:nvPr>
        </p:nvSpPr>
        <p:spPr>
          <a:xfrm>
            <a:off x="304800" y="337604"/>
            <a:ext cx="9791700" cy="509114"/>
          </a:xfrm>
          <a:prstGeom prst="rect">
            <a:avLst/>
          </a:prstGeom>
        </p:spPr>
        <p:txBody>
          <a:bodyPr vert="horz" wrap="square" lIns="0" tIns="16510" rIns="0" bIns="0" rtlCol="0">
            <a:spAutoFit/>
          </a:bodyPr>
          <a:lstStyle/>
          <a:p>
            <a:r>
              <a:rPr lang="en-US" sz="3200" dirty="0">
                <a:latin typeface="Times New Roman" panose="02020603050405020304" pitchFamily="18" charset="0"/>
                <a:cs typeface="Times New Roman" panose="02020603050405020304" pitchFamily="18" charset="0"/>
              </a:rPr>
              <a:t>This project includes 6 interrelated tables</a:t>
            </a:r>
            <a:r>
              <a:rPr lang="en-US" sz="3000" dirty="0">
                <a:latin typeface="Times New Roman" panose="02020603050405020304" pitchFamily="18" charset="0"/>
                <a:cs typeface="Times New Roman" panose="02020603050405020304" pitchFamily="18" charset="0"/>
              </a:rPr>
              <a:t>: </a:t>
            </a:r>
            <a:endParaRPr sz="3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261B208-FE24-063E-6B99-E6B6FD18D265}"/>
              </a:ext>
            </a:extLst>
          </p:cNvPr>
          <p:cNvPicPr>
            <a:picLocks noChangeAspect="1"/>
          </p:cNvPicPr>
          <p:nvPr/>
        </p:nvPicPr>
        <p:blipFill>
          <a:blip r:embed="rId2"/>
          <a:stretch>
            <a:fillRect/>
          </a:stretch>
        </p:blipFill>
        <p:spPr>
          <a:xfrm>
            <a:off x="762000" y="1514208"/>
            <a:ext cx="10297395" cy="4200792"/>
          </a:xfrm>
          <a:prstGeom prst="rect">
            <a:avLst/>
          </a:prstGeom>
        </p:spPr>
      </p:pic>
    </p:spTree>
    <p:extLst>
      <p:ext uri="{BB962C8B-B14F-4D97-AF65-F5344CB8AC3E}">
        <p14:creationId xmlns:p14="http://schemas.microsoft.com/office/powerpoint/2010/main" val="2650964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flipH="1">
            <a:off x="304800" y="76200"/>
            <a:ext cx="3048000" cy="509114"/>
          </a:xfrm>
          <a:prstGeom prst="rect">
            <a:avLst/>
          </a:prstGeom>
        </p:spPr>
        <p:txBody>
          <a:bodyPr vert="horz" wrap="square" lIns="0" tIns="16510" rIns="0" bIns="0" rtlCol="0">
            <a:spAutoFit/>
          </a:bodyPr>
          <a:lstStyle/>
          <a:p>
            <a:pPr marL="12700">
              <a:lnSpc>
                <a:spcPct val="100000"/>
              </a:lnSpc>
              <a:spcBef>
                <a:spcPts val="130"/>
              </a:spcBef>
            </a:pPr>
            <a:r>
              <a:rPr lang="en-IN" sz="3200" dirty="0">
                <a:latin typeface="Times New Roman" panose="02020603050405020304" pitchFamily="18" charset="0"/>
                <a:cs typeface="Times New Roman" panose="02020603050405020304" pitchFamily="18" charset="0"/>
              </a:rPr>
              <a:t>ABOUT</a:t>
            </a:r>
            <a:r>
              <a:rPr lang="en-IN" sz="3200" spc="-35" dirty="0">
                <a:latin typeface="Times New Roman" panose="02020603050405020304" pitchFamily="18" charset="0"/>
                <a:cs typeface="Times New Roman" panose="02020603050405020304" pitchFamily="18" charset="0"/>
              </a:rPr>
              <a:t> </a:t>
            </a:r>
            <a:r>
              <a:rPr lang="en-IN" sz="3200" spc="-10" dirty="0">
                <a:latin typeface="Times New Roman" panose="02020603050405020304" pitchFamily="18" charset="0"/>
                <a:cs typeface="Times New Roman" panose="02020603050405020304" pitchFamily="18" charset="0"/>
              </a:rPr>
              <a:t>TABLES</a:t>
            </a:r>
            <a:endParaRPr lang="en-IN" sz="3200" dirty="0">
              <a:latin typeface="Times New Roman" panose="02020603050405020304" pitchFamily="18" charset="0"/>
              <a:cs typeface="Times New Roman" panose="02020603050405020304" pitchFamily="18" charset="0"/>
            </a:endParaRPr>
          </a:p>
        </p:txBody>
      </p:sp>
      <p:sp>
        <p:nvSpPr>
          <p:cNvPr id="15" name="Rectangle 4">
            <a:extLst>
              <a:ext uri="{FF2B5EF4-FFF2-40B4-BE49-F238E27FC236}">
                <a16:creationId xmlns:a16="http://schemas.microsoft.com/office/drawing/2014/main" id="{EA174827-6D3F-617A-FFD4-5F20AA2C67E3}"/>
              </a:ext>
            </a:extLst>
          </p:cNvPr>
          <p:cNvSpPr>
            <a:spLocks noChangeArrowheads="1"/>
          </p:cNvSpPr>
          <p:nvPr/>
        </p:nvSpPr>
        <p:spPr bwMode="auto">
          <a:xfrm>
            <a:off x="304800" y="888846"/>
            <a:ext cx="116586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Department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Stores job roles, departments, and salary ranges.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(Job_ ID, job dept, name, description, salary range)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Primary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Job_ ID.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Salary Bonus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Contains specific salary, bonus, and annual pay details linked to roles.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salary_ ID,  Job_ ID, amount, annual, bonus)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Primary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salary_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Foreign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Job_ ID (links to Job Department).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Employee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Maintains personal, contact, and login details for all staff.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emp_ ID, first name, last name, gender, age,  contact_ add,  emp_ email,  emp_ pass,  Job_ ID)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Primary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emp_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Foreign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Job_ ID (links to Job Department) .</a:t>
            </a:r>
          </a:p>
        </p:txBody>
      </p:sp>
      <p:pic>
        <p:nvPicPr>
          <p:cNvPr id="19" name="Picture 18">
            <a:extLst>
              <a:ext uri="{FF2B5EF4-FFF2-40B4-BE49-F238E27FC236}">
                <a16:creationId xmlns:a16="http://schemas.microsoft.com/office/drawing/2014/main" id="{8A3CC0EE-7598-9335-ADBC-873F72D650D4}"/>
              </a:ext>
            </a:extLst>
          </p:cNvPr>
          <p:cNvPicPr>
            <a:picLocks noChangeAspect="1"/>
          </p:cNvPicPr>
          <p:nvPr/>
        </p:nvPicPr>
        <p:blipFill>
          <a:blip r:embed="rId2"/>
          <a:stretch>
            <a:fillRect/>
          </a:stretch>
        </p:blipFill>
        <p:spPr>
          <a:xfrm>
            <a:off x="8610600" y="967635"/>
            <a:ext cx="3352800" cy="29185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02D6240-C611-F97F-A29E-9958CBC3EE11}"/>
              </a:ext>
            </a:extLst>
          </p:cNvPr>
          <p:cNvSpPr>
            <a:spLocks noChangeArrowheads="1"/>
          </p:cNvSpPr>
          <p:nvPr/>
        </p:nvSpPr>
        <p:spPr bwMode="auto">
          <a:xfrm>
            <a:off x="457200" y="505689"/>
            <a:ext cx="11734800"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Qualification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Records skills and requirements for specific employee positions.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(Qual ID,  Emp_ ID, Position, Requirements,  Date_ In)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Primary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Qual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Foreign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Emp_ ID (links to Employee)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Leaves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Tracks employee leave history, dates, and reasons.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leave_ ID,  emp_ ID, date, reason)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Primary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leave_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Foreign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emp_ ID (links to Employee).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Payroll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central hub that combines all data to calculate net payments.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payroll_ ID,  emp_ ID,  job_ ID,  salary_ ID,  leave_ ID, date, report,  total_ amount)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Primary Key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payroll_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Foreign Keys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emp_ ID,  job_ ID,  salary_ ID, and  leave_ ID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5F2F5B78-8135-93DD-F85B-932097174DDA}"/>
              </a:ext>
            </a:extLst>
          </p:cNvPr>
          <p:cNvPicPr>
            <a:picLocks noChangeAspect="1"/>
          </p:cNvPicPr>
          <p:nvPr/>
        </p:nvPicPr>
        <p:blipFill>
          <a:blip r:embed="rId2"/>
          <a:stretch>
            <a:fillRect/>
          </a:stretch>
        </p:blipFill>
        <p:spPr>
          <a:xfrm>
            <a:off x="7726395" y="1600200"/>
            <a:ext cx="4008405" cy="23991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95500" y="273959"/>
            <a:ext cx="9906000" cy="509114"/>
          </a:xfrm>
          <a:prstGeom prst="rect">
            <a:avLst/>
          </a:prstGeom>
        </p:spPr>
        <p:txBody>
          <a:bodyPr vert="horz" wrap="square" lIns="0" tIns="16510" rIns="0" bIns="0" rtlCol="0">
            <a:spAutoFit/>
          </a:bodyPr>
          <a:lstStyle/>
          <a:p>
            <a:pPr marL="2458720">
              <a:lnSpc>
                <a:spcPct val="100000"/>
              </a:lnSpc>
              <a:spcBef>
                <a:spcPts val="130"/>
              </a:spcBef>
            </a:pPr>
            <a:r>
              <a:rPr sz="3200" b="1" dirty="0">
                <a:latin typeface="Arial"/>
                <a:cs typeface="Arial"/>
              </a:rPr>
              <a:t>ER</a:t>
            </a:r>
            <a:r>
              <a:rPr sz="3200" b="1" spc="-165" dirty="0">
                <a:latin typeface="Arial"/>
                <a:cs typeface="Arial"/>
              </a:rPr>
              <a:t> </a:t>
            </a:r>
            <a:r>
              <a:rPr sz="3200" b="1" spc="-85" dirty="0">
                <a:latin typeface="Arial"/>
                <a:cs typeface="Arial"/>
              </a:rPr>
              <a:t>Diagram</a:t>
            </a:r>
            <a:r>
              <a:rPr sz="3200" b="1" spc="-60" dirty="0">
                <a:latin typeface="Arial"/>
                <a:cs typeface="Arial"/>
              </a:rPr>
              <a:t> </a:t>
            </a:r>
            <a:r>
              <a:rPr sz="3200" b="1" spc="-70" dirty="0">
                <a:latin typeface="Arial"/>
                <a:cs typeface="Arial"/>
              </a:rPr>
              <a:t>and</a:t>
            </a:r>
            <a:r>
              <a:rPr sz="3200" b="1" spc="-65" dirty="0">
                <a:latin typeface="Arial"/>
                <a:cs typeface="Arial"/>
              </a:rPr>
              <a:t> </a:t>
            </a:r>
            <a:r>
              <a:rPr sz="3200" b="1" spc="-114" dirty="0">
                <a:latin typeface="Arial"/>
                <a:cs typeface="Arial"/>
              </a:rPr>
              <a:t>schema</a:t>
            </a:r>
            <a:r>
              <a:rPr sz="3200" b="1" spc="-105" dirty="0">
                <a:latin typeface="Arial"/>
                <a:cs typeface="Arial"/>
              </a:rPr>
              <a:t> </a:t>
            </a:r>
            <a:r>
              <a:rPr sz="3200" b="1" spc="-100" dirty="0">
                <a:latin typeface="Arial"/>
                <a:cs typeface="Arial"/>
              </a:rPr>
              <a:t>explanation</a:t>
            </a:r>
            <a:endParaRPr sz="3200" dirty="0">
              <a:latin typeface="Arial"/>
              <a:cs typeface="Arial"/>
            </a:endParaRPr>
          </a:p>
        </p:txBody>
      </p:sp>
      <p:sp>
        <p:nvSpPr>
          <p:cNvPr id="7" name="TextBox 6">
            <a:extLst>
              <a:ext uri="{FF2B5EF4-FFF2-40B4-BE49-F238E27FC236}">
                <a16:creationId xmlns:a16="http://schemas.microsoft.com/office/drawing/2014/main" id="{B2EFD364-08B9-A32D-558D-0339C7A51A5B}"/>
              </a:ext>
            </a:extLst>
          </p:cNvPr>
          <p:cNvSpPr txBox="1"/>
          <p:nvPr/>
        </p:nvSpPr>
        <p:spPr>
          <a:xfrm>
            <a:off x="190500" y="1225689"/>
            <a:ext cx="5524500" cy="4616648"/>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ER diagram show’s  One-to-Many (1:N) relationships .</a:t>
            </a:r>
          </a:p>
          <a:p>
            <a:endParaRPr lang="en-US" sz="2000" dirty="0">
              <a:latin typeface="Times New Roman" panose="02020603050405020304" pitchFamily="18" charset="0"/>
              <a:cs typeface="Times New Roman" panose="02020603050405020304" pitchFamily="18" charset="0"/>
            </a:endParaRPr>
          </a:p>
          <a:p>
            <a:r>
              <a:rPr lang="en-US" sz="2000" dirty="0">
                <a:solidFill>
                  <a:srgbClr val="C00000"/>
                </a:solidFill>
                <a:latin typeface="Times New Roman" panose="02020603050405020304" pitchFamily="18" charset="0"/>
                <a:cs typeface="Times New Roman" panose="02020603050405020304" pitchFamily="18" charset="0"/>
              </a:rPr>
              <a:t>EXAMPLE :</a:t>
            </a:r>
          </a:p>
          <a:p>
            <a:r>
              <a:rPr lang="en-US" sz="2000" dirty="0">
                <a:latin typeface="Times New Roman" panose="02020603050405020304" pitchFamily="18" charset="0"/>
                <a:cs typeface="Times New Roman" panose="02020603050405020304" pitchFamily="18" charset="0"/>
              </a:rPr>
              <a:t>● One-to-Many from job department to employee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One-to-Many from job department to </a:t>
            </a:r>
            <a:r>
              <a:rPr lang="en-US" sz="2000" dirty="0" err="1">
                <a:latin typeface="Times New Roman" panose="02020603050405020304" pitchFamily="18" charset="0"/>
                <a:cs typeface="Times New Roman" panose="02020603050405020304" pitchFamily="18" charset="0"/>
              </a:rPr>
              <a:t>salarybonus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One-to-Many from employee to qualification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One-to-Many from employee to payroll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One-to-Many from salary bonus to payroll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One-to-Many from job department to payroll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One-to-Many from employee to leave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One-to-Many from leave to payroll</a:t>
            </a: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E864BA3-8AF6-46D3-A42B-F38A174777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1476970"/>
            <a:ext cx="6172200" cy="39040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50450" y="508595"/>
            <a:ext cx="11313932" cy="1000915"/>
          </a:xfrm>
          <a:prstGeom prst="rect">
            <a:avLst/>
          </a:prstGeom>
        </p:spPr>
        <p:txBody>
          <a:bodyPr vert="horz" wrap="square" lIns="0" tIns="15875" rIns="0" bIns="0" rtlCol="0">
            <a:spAutoFit/>
          </a:bodyPr>
          <a:lstStyle/>
          <a:p>
            <a:pPr marL="12700">
              <a:lnSpc>
                <a:spcPct val="100000"/>
              </a:lnSpc>
              <a:spcBef>
                <a:spcPts val="125"/>
              </a:spcBef>
            </a:pPr>
            <a:r>
              <a:rPr lang="en-US" sz="2400" b="1" u="sng" dirty="0">
                <a:solidFill>
                  <a:srgbClr val="C00000"/>
                </a:solidFill>
                <a:latin typeface="Times New Roman" panose="02020603050405020304" pitchFamily="18" charset="0"/>
                <a:cs typeface="Times New Roman" panose="02020603050405020304" pitchFamily="18" charset="0"/>
              </a:rPr>
              <a:t>  EMPLOYEE INSIGHTS</a:t>
            </a:r>
            <a:br>
              <a:rPr lang="en-US" sz="2400" b="1" dirty="0">
                <a:solidFill>
                  <a:schemeClr val="tx1"/>
                </a:solidFill>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5B7F3BE-D1C3-E064-2A1D-63F1E19BAB39}"/>
              </a:ext>
            </a:extLst>
          </p:cNvPr>
          <p:cNvPicPr>
            <a:picLocks noChangeAspect="1"/>
          </p:cNvPicPr>
          <p:nvPr/>
        </p:nvPicPr>
        <p:blipFill>
          <a:blip r:embed="rId2"/>
          <a:stretch>
            <a:fillRect/>
          </a:stretch>
        </p:blipFill>
        <p:spPr>
          <a:xfrm>
            <a:off x="381000" y="1039532"/>
            <a:ext cx="6158272" cy="4115044"/>
          </a:xfrm>
          <a:prstGeom prst="rect">
            <a:avLst/>
          </a:prstGeom>
        </p:spPr>
      </p:pic>
      <p:pic>
        <p:nvPicPr>
          <p:cNvPr id="12" name="Picture 11">
            <a:extLst>
              <a:ext uri="{FF2B5EF4-FFF2-40B4-BE49-F238E27FC236}">
                <a16:creationId xmlns:a16="http://schemas.microsoft.com/office/drawing/2014/main" id="{217EA92D-DF3C-3905-067C-2BCAE80970F8}"/>
              </a:ext>
            </a:extLst>
          </p:cNvPr>
          <p:cNvPicPr>
            <a:picLocks noChangeAspect="1"/>
          </p:cNvPicPr>
          <p:nvPr/>
        </p:nvPicPr>
        <p:blipFill>
          <a:blip r:embed="rId3"/>
          <a:stretch>
            <a:fillRect/>
          </a:stretch>
        </p:blipFill>
        <p:spPr>
          <a:xfrm>
            <a:off x="7924800" y="1509510"/>
            <a:ext cx="2976043" cy="547890"/>
          </a:xfrm>
          <a:prstGeom prst="rect">
            <a:avLst/>
          </a:prstGeom>
        </p:spPr>
      </p:pic>
      <p:pic>
        <p:nvPicPr>
          <p:cNvPr id="14" name="Picture 13">
            <a:extLst>
              <a:ext uri="{FF2B5EF4-FFF2-40B4-BE49-F238E27FC236}">
                <a16:creationId xmlns:a16="http://schemas.microsoft.com/office/drawing/2014/main" id="{A965B739-F374-EE21-C7F4-E30842ED5EDB}"/>
              </a:ext>
            </a:extLst>
          </p:cNvPr>
          <p:cNvPicPr>
            <a:picLocks noChangeAspect="1"/>
          </p:cNvPicPr>
          <p:nvPr/>
        </p:nvPicPr>
        <p:blipFill>
          <a:blip r:embed="rId4"/>
          <a:stretch>
            <a:fillRect/>
          </a:stretch>
        </p:blipFill>
        <p:spPr>
          <a:xfrm>
            <a:off x="7924800" y="2743200"/>
            <a:ext cx="2495898" cy="1924319"/>
          </a:xfrm>
          <a:prstGeom prst="rect">
            <a:avLst/>
          </a:prstGeom>
        </p:spPr>
      </p:pic>
      <p:sp>
        <p:nvSpPr>
          <p:cNvPr id="4" name="TextBox 3">
            <a:extLst>
              <a:ext uri="{FF2B5EF4-FFF2-40B4-BE49-F238E27FC236}">
                <a16:creationId xmlns:a16="http://schemas.microsoft.com/office/drawing/2014/main" id="{0DAE59AD-C0F0-3F05-1EF1-66E99D537DC4}"/>
              </a:ext>
            </a:extLst>
          </p:cNvPr>
          <p:cNvSpPr txBox="1"/>
          <p:nvPr/>
        </p:nvSpPr>
        <p:spPr>
          <a:xfrm>
            <a:off x="8108827" y="797278"/>
            <a:ext cx="1143000" cy="369332"/>
          </a:xfrm>
          <a:prstGeom prst="rect">
            <a:avLst/>
          </a:prstGeom>
          <a:noFill/>
        </p:spPr>
        <p:txBody>
          <a:bodyPr wrap="square">
            <a:spAutoFit/>
          </a:bodyPr>
          <a:lstStyle/>
          <a:p>
            <a:r>
              <a:rPr lang="en-US" b="1" dirty="0">
                <a:solidFill>
                  <a:schemeClr val="tx1"/>
                </a:solidFill>
              </a:rPr>
              <a:t>OUTPUT</a:t>
            </a:r>
            <a:endParaRPr lang="en-IN" b="1"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DEA70D-CCB4-2E2D-F8B9-B7ED7E0DAE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762000"/>
            <a:ext cx="6477000" cy="5036563"/>
          </a:xfrm>
          <a:prstGeom prst="rect">
            <a:avLst/>
          </a:prstGeom>
        </p:spPr>
      </p:pic>
      <p:pic>
        <p:nvPicPr>
          <p:cNvPr id="5" name="Picture 4">
            <a:extLst>
              <a:ext uri="{FF2B5EF4-FFF2-40B4-BE49-F238E27FC236}">
                <a16:creationId xmlns:a16="http://schemas.microsoft.com/office/drawing/2014/main" id="{A8DB7CDC-271B-A86E-8B84-C94D7935D4F9}"/>
              </a:ext>
            </a:extLst>
          </p:cNvPr>
          <p:cNvPicPr>
            <a:picLocks noChangeAspect="1"/>
          </p:cNvPicPr>
          <p:nvPr/>
        </p:nvPicPr>
        <p:blipFill>
          <a:blip r:embed="rId3"/>
          <a:stretch>
            <a:fillRect/>
          </a:stretch>
        </p:blipFill>
        <p:spPr>
          <a:xfrm>
            <a:off x="8153400" y="609600"/>
            <a:ext cx="2467319" cy="1971950"/>
          </a:xfrm>
          <a:prstGeom prst="rect">
            <a:avLst/>
          </a:prstGeom>
        </p:spPr>
      </p:pic>
      <p:pic>
        <p:nvPicPr>
          <p:cNvPr id="7" name="Picture 6">
            <a:extLst>
              <a:ext uri="{FF2B5EF4-FFF2-40B4-BE49-F238E27FC236}">
                <a16:creationId xmlns:a16="http://schemas.microsoft.com/office/drawing/2014/main" id="{E573BF5C-16DD-232B-14AC-BD3E6694C609}"/>
              </a:ext>
            </a:extLst>
          </p:cNvPr>
          <p:cNvPicPr>
            <a:picLocks noChangeAspect="1"/>
          </p:cNvPicPr>
          <p:nvPr/>
        </p:nvPicPr>
        <p:blipFill>
          <a:blip r:embed="rId4"/>
          <a:stretch>
            <a:fillRect/>
          </a:stretch>
        </p:blipFill>
        <p:spPr>
          <a:xfrm>
            <a:off x="8077200" y="3009449"/>
            <a:ext cx="2934109" cy="1267002"/>
          </a:xfrm>
          <a:prstGeom prst="rect">
            <a:avLst/>
          </a:prstGeom>
        </p:spPr>
      </p:pic>
      <p:pic>
        <p:nvPicPr>
          <p:cNvPr id="9" name="Picture 8">
            <a:extLst>
              <a:ext uri="{FF2B5EF4-FFF2-40B4-BE49-F238E27FC236}">
                <a16:creationId xmlns:a16="http://schemas.microsoft.com/office/drawing/2014/main" id="{B76F6E6C-A1C6-B611-5C3B-433D0BEB374F}"/>
              </a:ext>
            </a:extLst>
          </p:cNvPr>
          <p:cNvPicPr>
            <a:picLocks noChangeAspect="1"/>
          </p:cNvPicPr>
          <p:nvPr/>
        </p:nvPicPr>
        <p:blipFill>
          <a:blip r:embed="rId5"/>
          <a:stretch>
            <a:fillRect/>
          </a:stretch>
        </p:blipFill>
        <p:spPr>
          <a:xfrm>
            <a:off x="8305800" y="4898354"/>
            <a:ext cx="2462567" cy="671609"/>
          </a:xfrm>
          <a:prstGeom prst="rect">
            <a:avLst/>
          </a:prstGeom>
        </p:spPr>
      </p:pic>
      <p:sp>
        <p:nvSpPr>
          <p:cNvPr id="10" name="TextBox 9">
            <a:extLst>
              <a:ext uri="{FF2B5EF4-FFF2-40B4-BE49-F238E27FC236}">
                <a16:creationId xmlns:a16="http://schemas.microsoft.com/office/drawing/2014/main" id="{7CCB998B-C58E-1454-FC30-CDC2C6266E63}"/>
              </a:ext>
            </a:extLst>
          </p:cNvPr>
          <p:cNvSpPr txBox="1"/>
          <p:nvPr/>
        </p:nvSpPr>
        <p:spPr>
          <a:xfrm>
            <a:off x="381000" y="227978"/>
            <a:ext cx="2819400" cy="400110"/>
          </a:xfrm>
          <a:prstGeom prst="rect">
            <a:avLst/>
          </a:prstGeom>
          <a:noFill/>
        </p:spPr>
        <p:txBody>
          <a:bodyPr wrap="square" rtlCol="0">
            <a:spAutoFit/>
          </a:bodyPr>
          <a:lstStyle/>
          <a:p>
            <a:r>
              <a:rPr lang="en-US" sz="2000" b="1" dirty="0"/>
              <a:t>QUERY</a:t>
            </a:r>
            <a:endParaRPr lang="en-IN" sz="2000" b="1" dirty="0"/>
          </a:p>
        </p:txBody>
      </p:sp>
      <p:sp>
        <p:nvSpPr>
          <p:cNvPr id="4" name="TextBox 3">
            <a:extLst>
              <a:ext uri="{FF2B5EF4-FFF2-40B4-BE49-F238E27FC236}">
                <a16:creationId xmlns:a16="http://schemas.microsoft.com/office/drawing/2014/main" id="{770E41CC-9894-DE7C-AF48-0D9FAD82E67E}"/>
              </a:ext>
            </a:extLst>
          </p:cNvPr>
          <p:cNvSpPr txBox="1"/>
          <p:nvPr/>
        </p:nvSpPr>
        <p:spPr>
          <a:xfrm>
            <a:off x="8133735" y="203397"/>
            <a:ext cx="1447800" cy="369332"/>
          </a:xfrm>
          <a:prstGeom prst="rect">
            <a:avLst/>
          </a:prstGeom>
          <a:noFill/>
        </p:spPr>
        <p:txBody>
          <a:bodyPr wrap="square">
            <a:spAutoFit/>
          </a:bodyPr>
          <a:lstStyle/>
          <a:p>
            <a:r>
              <a:rPr lang="en-US" b="1" dirty="0">
                <a:solidFill>
                  <a:schemeClr val="tx1"/>
                </a:solidFill>
              </a:rPr>
              <a:t>OUTPUT</a:t>
            </a:r>
            <a:endParaRPr lang="en-IN" b="1" dirty="0">
              <a:solidFill>
                <a:schemeClr val="tx1"/>
              </a:solidFill>
            </a:endParaRPr>
          </a:p>
        </p:txBody>
      </p:sp>
    </p:spTree>
    <p:extLst>
      <p:ext uri="{BB962C8B-B14F-4D97-AF65-F5344CB8AC3E}">
        <p14:creationId xmlns:p14="http://schemas.microsoft.com/office/powerpoint/2010/main" val="1131513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BA9078-FD68-5CB0-BF5A-369F43E64189}"/>
              </a:ext>
            </a:extLst>
          </p:cNvPr>
          <p:cNvSpPr>
            <a:spLocks noChangeArrowheads="1"/>
          </p:cNvSpPr>
          <p:nvPr/>
        </p:nvSpPr>
        <p:spPr bwMode="auto">
          <a:xfrm>
            <a:off x="381000" y="756552"/>
            <a:ext cx="105156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Employee 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Workforce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tells us the exact number of people currently working in the company, ensuring no one is counted twice.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Biggest Departments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identifies which parts of the company (like IT or Sales) have the most staff, helping managers see where the team is largest.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Average Pay by Department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shows the typical salary for each department, making it easy to compare how different teams are paid.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 Earners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highlights the 5 employees who have the highest salaries in the entire organization.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Company Spend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calculates the grand total of all salaries combined, showing exactly how much the company spends on its employees every month or year.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725AB917-7812-535C-4E80-492B80036B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4953000"/>
            <a:ext cx="2069525" cy="381000"/>
          </a:xfrm>
          <a:prstGeom prst="rect">
            <a:avLst/>
          </a:prstGeom>
        </p:spPr>
      </p:pic>
      <p:pic>
        <p:nvPicPr>
          <p:cNvPr id="26" name="Picture 25">
            <a:extLst>
              <a:ext uri="{FF2B5EF4-FFF2-40B4-BE49-F238E27FC236}">
                <a16:creationId xmlns:a16="http://schemas.microsoft.com/office/drawing/2014/main" id="{A04FA20B-6505-6D32-6BB0-451E6D955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4648200"/>
            <a:ext cx="2276793" cy="1755391"/>
          </a:xfrm>
          <a:prstGeom prst="rect">
            <a:avLst/>
          </a:prstGeom>
        </p:spPr>
      </p:pic>
      <p:pic>
        <p:nvPicPr>
          <p:cNvPr id="28" name="Picture 27">
            <a:extLst>
              <a:ext uri="{FF2B5EF4-FFF2-40B4-BE49-F238E27FC236}">
                <a16:creationId xmlns:a16="http://schemas.microsoft.com/office/drawing/2014/main" id="{CD307849-04F7-6D44-A06D-8CF544B572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6400" y="4628535"/>
            <a:ext cx="2042321" cy="1632280"/>
          </a:xfrm>
          <a:prstGeom prst="rect">
            <a:avLst/>
          </a:prstGeom>
        </p:spPr>
      </p:pic>
      <p:pic>
        <p:nvPicPr>
          <p:cNvPr id="30" name="Picture 29">
            <a:extLst>
              <a:ext uri="{FF2B5EF4-FFF2-40B4-BE49-F238E27FC236}">
                <a16:creationId xmlns:a16="http://schemas.microsoft.com/office/drawing/2014/main" id="{DF65B834-CBFB-12D2-A92C-3E68FEB829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96200" y="4752667"/>
            <a:ext cx="2209800" cy="1200179"/>
          </a:xfrm>
          <a:prstGeom prst="rect">
            <a:avLst/>
          </a:prstGeom>
        </p:spPr>
      </p:pic>
      <p:pic>
        <p:nvPicPr>
          <p:cNvPr id="32" name="Picture 31">
            <a:extLst>
              <a:ext uri="{FF2B5EF4-FFF2-40B4-BE49-F238E27FC236}">
                <a16:creationId xmlns:a16="http://schemas.microsoft.com/office/drawing/2014/main" id="{AB1F6EF8-863B-1B7B-C0A1-84D334865D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63200" y="4955456"/>
            <a:ext cx="1676634" cy="457264"/>
          </a:xfrm>
          <a:prstGeom prst="rect">
            <a:avLst/>
          </a:prstGeom>
        </p:spPr>
      </p:pic>
    </p:spTree>
    <p:extLst>
      <p:ext uri="{BB962C8B-B14F-4D97-AF65-F5344CB8AC3E}">
        <p14:creationId xmlns:p14="http://schemas.microsoft.com/office/powerpoint/2010/main" val="3821144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812FB2-C24D-03C6-C83B-016E77B94A8E}"/>
              </a:ext>
            </a:extLst>
          </p:cNvPr>
          <p:cNvPicPr>
            <a:picLocks noChangeAspect="1"/>
          </p:cNvPicPr>
          <p:nvPr/>
        </p:nvPicPr>
        <p:blipFill>
          <a:blip r:embed="rId2"/>
          <a:stretch>
            <a:fillRect/>
          </a:stretch>
        </p:blipFill>
        <p:spPr>
          <a:xfrm>
            <a:off x="152400" y="1066800"/>
            <a:ext cx="5544324" cy="2657846"/>
          </a:xfrm>
          <a:prstGeom prst="rect">
            <a:avLst/>
          </a:prstGeom>
        </p:spPr>
      </p:pic>
      <p:sp>
        <p:nvSpPr>
          <p:cNvPr id="4" name="TextBox 3">
            <a:extLst>
              <a:ext uri="{FF2B5EF4-FFF2-40B4-BE49-F238E27FC236}">
                <a16:creationId xmlns:a16="http://schemas.microsoft.com/office/drawing/2014/main" id="{12525126-1C67-A852-FC91-12D6B807D24C}"/>
              </a:ext>
            </a:extLst>
          </p:cNvPr>
          <p:cNvSpPr txBox="1"/>
          <p:nvPr/>
        </p:nvSpPr>
        <p:spPr>
          <a:xfrm>
            <a:off x="219462" y="457200"/>
            <a:ext cx="5410200" cy="400110"/>
          </a:xfrm>
          <a:prstGeom prst="rect">
            <a:avLst/>
          </a:prstGeom>
          <a:noFill/>
        </p:spPr>
        <p:txBody>
          <a:bodyPr wrap="square" rtlCol="0">
            <a:spAutoFit/>
          </a:bodyPr>
          <a:lstStyle/>
          <a:p>
            <a:r>
              <a:rPr lang="en-US" sz="2000" b="1" dirty="0">
                <a:solidFill>
                  <a:srgbClr val="C00000"/>
                </a:solidFill>
              </a:rPr>
              <a:t>JOB ROLE AND DEPARTMENT ANALYSIS</a:t>
            </a:r>
            <a:endParaRPr lang="en-IN" sz="2000" b="1" dirty="0">
              <a:solidFill>
                <a:srgbClr val="C00000"/>
              </a:solidFill>
            </a:endParaRPr>
          </a:p>
        </p:txBody>
      </p:sp>
      <p:sp>
        <p:nvSpPr>
          <p:cNvPr id="6" name="Rectangle 1">
            <a:extLst>
              <a:ext uri="{FF2B5EF4-FFF2-40B4-BE49-F238E27FC236}">
                <a16:creationId xmlns:a16="http://schemas.microsoft.com/office/drawing/2014/main" id="{70556AB7-EFCD-EADB-93A7-A2C91EE0FE33}"/>
              </a:ext>
            </a:extLst>
          </p:cNvPr>
          <p:cNvSpPr>
            <a:spLocks noChangeArrowheads="1"/>
          </p:cNvSpPr>
          <p:nvPr/>
        </p:nvSpPr>
        <p:spPr bwMode="auto">
          <a:xfrm>
            <a:off x="381000" y="4467135"/>
            <a:ext cx="10668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Role Variety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shows how many different types of jobs (like Manager, Developer, or Assistant) are available within each department.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Typical Pay Scales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identifies the average salary range for every department, helping the company understand the standard pay for different teams.</a:t>
            </a:r>
          </a:p>
        </p:txBody>
      </p:sp>
      <p:pic>
        <p:nvPicPr>
          <p:cNvPr id="8" name="Picture 7">
            <a:extLst>
              <a:ext uri="{FF2B5EF4-FFF2-40B4-BE49-F238E27FC236}">
                <a16:creationId xmlns:a16="http://schemas.microsoft.com/office/drawing/2014/main" id="{07729E55-CA69-8DB0-EBB5-C3E9AAF29A92}"/>
              </a:ext>
            </a:extLst>
          </p:cNvPr>
          <p:cNvPicPr>
            <a:picLocks noChangeAspect="1"/>
          </p:cNvPicPr>
          <p:nvPr/>
        </p:nvPicPr>
        <p:blipFill>
          <a:blip r:embed="rId3"/>
          <a:stretch>
            <a:fillRect/>
          </a:stretch>
        </p:blipFill>
        <p:spPr>
          <a:xfrm>
            <a:off x="6858000" y="879433"/>
            <a:ext cx="1802167" cy="1600200"/>
          </a:xfrm>
          <a:prstGeom prst="rect">
            <a:avLst/>
          </a:prstGeom>
        </p:spPr>
      </p:pic>
      <p:pic>
        <p:nvPicPr>
          <p:cNvPr id="10" name="Picture 9">
            <a:extLst>
              <a:ext uri="{FF2B5EF4-FFF2-40B4-BE49-F238E27FC236}">
                <a16:creationId xmlns:a16="http://schemas.microsoft.com/office/drawing/2014/main" id="{623CF250-2EA2-7005-200A-52495A424E63}"/>
              </a:ext>
            </a:extLst>
          </p:cNvPr>
          <p:cNvPicPr>
            <a:picLocks noChangeAspect="1"/>
          </p:cNvPicPr>
          <p:nvPr/>
        </p:nvPicPr>
        <p:blipFill>
          <a:blip r:embed="rId4"/>
          <a:stretch>
            <a:fillRect/>
          </a:stretch>
        </p:blipFill>
        <p:spPr>
          <a:xfrm>
            <a:off x="9372600" y="1371600"/>
            <a:ext cx="2486372" cy="2810267"/>
          </a:xfrm>
          <a:prstGeom prst="rect">
            <a:avLst/>
          </a:prstGeom>
        </p:spPr>
      </p:pic>
      <p:sp>
        <p:nvSpPr>
          <p:cNvPr id="5" name="TextBox 4">
            <a:extLst>
              <a:ext uri="{FF2B5EF4-FFF2-40B4-BE49-F238E27FC236}">
                <a16:creationId xmlns:a16="http://schemas.microsoft.com/office/drawing/2014/main" id="{ECC980E5-212F-AE5B-7F7D-C660A7CCA7C5}"/>
              </a:ext>
            </a:extLst>
          </p:cNvPr>
          <p:cNvSpPr txBox="1"/>
          <p:nvPr/>
        </p:nvSpPr>
        <p:spPr>
          <a:xfrm>
            <a:off x="7073283" y="367467"/>
            <a:ext cx="1371600" cy="369332"/>
          </a:xfrm>
          <a:prstGeom prst="rect">
            <a:avLst/>
          </a:prstGeom>
          <a:noFill/>
        </p:spPr>
        <p:txBody>
          <a:bodyPr wrap="square">
            <a:spAutoFit/>
          </a:bodyPr>
          <a:lstStyle/>
          <a:p>
            <a:r>
              <a:rPr lang="en-US" b="1" dirty="0">
                <a:solidFill>
                  <a:schemeClr val="tx1"/>
                </a:solidFill>
              </a:rPr>
              <a:t>OUTPUT</a:t>
            </a:r>
            <a:endParaRPr lang="en-IN" b="1" dirty="0">
              <a:solidFill>
                <a:schemeClr val="tx1"/>
              </a:solidFill>
            </a:endParaRPr>
          </a:p>
        </p:txBody>
      </p:sp>
      <p:sp>
        <p:nvSpPr>
          <p:cNvPr id="9" name="TextBox 8">
            <a:extLst>
              <a:ext uri="{FF2B5EF4-FFF2-40B4-BE49-F238E27FC236}">
                <a16:creationId xmlns:a16="http://schemas.microsoft.com/office/drawing/2014/main" id="{AECB01E4-F549-98D3-69AD-F81F9361FA7F}"/>
              </a:ext>
            </a:extLst>
          </p:cNvPr>
          <p:cNvSpPr txBox="1"/>
          <p:nvPr/>
        </p:nvSpPr>
        <p:spPr>
          <a:xfrm>
            <a:off x="381000" y="3955169"/>
            <a:ext cx="6096000" cy="369332"/>
          </a:xfrm>
          <a:prstGeom prst="rect">
            <a:avLst/>
          </a:prstGeom>
          <a:noFill/>
        </p:spPr>
        <p:txBody>
          <a:bodyPr wrap="square">
            <a:spAutoFit/>
          </a:bodyPr>
          <a:lstStyle/>
          <a:p>
            <a:r>
              <a:rPr lang="en-US" b="1" dirty="0">
                <a:solidFill>
                  <a:srgbClr val="FF0000"/>
                </a:solidFill>
              </a:rPr>
              <a:t>KEY INSIGHTS</a:t>
            </a:r>
            <a:endParaRPr lang="en-IN" b="1" dirty="0">
              <a:solidFill>
                <a:srgbClr val="FF0000"/>
              </a:solidFill>
            </a:endParaRPr>
          </a:p>
        </p:txBody>
      </p:sp>
    </p:spTree>
    <p:extLst>
      <p:ext uri="{BB962C8B-B14F-4D97-AF65-F5344CB8AC3E}">
        <p14:creationId xmlns:p14="http://schemas.microsoft.com/office/powerpoint/2010/main" val="2733069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2C8626-DF1C-BBFB-C13A-483162BDED85}"/>
              </a:ext>
            </a:extLst>
          </p:cNvPr>
          <p:cNvSpPr txBox="1"/>
          <p:nvPr/>
        </p:nvSpPr>
        <p:spPr>
          <a:xfrm>
            <a:off x="152400" y="152400"/>
            <a:ext cx="1371600" cy="400110"/>
          </a:xfrm>
          <a:prstGeom prst="rect">
            <a:avLst/>
          </a:prstGeom>
          <a:noFill/>
        </p:spPr>
        <p:txBody>
          <a:bodyPr wrap="square" rtlCol="0">
            <a:spAutoFit/>
          </a:bodyPr>
          <a:lstStyle/>
          <a:p>
            <a:r>
              <a:rPr lang="en-US" sz="2000" b="1" dirty="0"/>
              <a:t>QUERY</a:t>
            </a:r>
            <a:endParaRPr lang="en-IN" sz="2000" b="1" dirty="0"/>
          </a:p>
        </p:txBody>
      </p:sp>
      <p:pic>
        <p:nvPicPr>
          <p:cNvPr id="4" name="Picture 3">
            <a:extLst>
              <a:ext uri="{FF2B5EF4-FFF2-40B4-BE49-F238E27FC236}">
                <a16:creationId xmlns:a16="http://schemas.microsoft.com/office/drawing/2014/main" id="{9B7E22B1-0A33-24EC-211B-2B8CFCB67282}"/>
              </a:ext>
            </a:extLst>
          </p:cNvPr>
          <p:cNvPicPr>
            <a:picLocks noChangeAspect="1"/>
          </p:cNvPicPr>
          <p:nvPr/>
        </p:nvPicPr>
        <p:blipFill>
          <a:blip r:embed="rId2"/>
          <a:stretch>
            <a:fillRect/>
          </a:stretch>
        </p:blipFill>
        <p:spPr>
          <a:xfrm>
            <a:off x="152400" y="757187"/>
            <a:ext cx="6476999" cy="3641650"/>
          </a:xfrm>
          <a:prstGeom prst="rect">
            <a:avLst/>
          </a:prstGeom>
        </p:spPr>
      </p:pic>
      <p:pic>
        <p:nvPicPr>
          <p:cNvPr id="6" name="Picture 5">
            <a:extLst>
              <a:ext uri="{FF2B5EF4-FFF2-40B4-BE49-F238E27FC236}">
                <a16:creationId xmlns:a16="http://schemas.microsoft.com/office/drawing/2014/main" id="{54146B8C-FBCD-5873-E32A-05B04BD4120F}"/>
              </a:ext>
            </a:extLst>
          </p:cNvPr>
          <p:cNvPicPr>
            <a:picLocks noChangeAspect="1"/>
          </p:cNvPicPr>
          <p:nvPr/>
        </p:nvPicPr>
        <p:blipFill>
          <a:blip r:embed="rId3"/>
          <a:stretch>
            <a:fillRect/>
          </a:stretch>
        </p:blipFill>
        <p:spPr>
          <a:xfrm>
            <a:off x="7086599" y="446693"/>
            <a:ext cx="2576388" cy="2266335"/>
          </a:xfrm>
          <a:prstGeom prst="rect">
            <a:avLst/>
          </a:prstGeom>
        </p:spPr>
      </p:pic>
      <p:pic>
        <p:nvPicPr>
          <p:cNvPr id="8" name="Picture 7">
            <a:extLst>
              <a:ext uri="{FF2B5EF4-FFF2-40B4-BE49-F238E27FC236}">
                <a16:creationId xmlns:a16="http://schemas.microsoft.com/office/drawing/2014/main" id="{E745C42F-5AE0-304D-5FF0-C5CED59C8E60}"/>
              </a:ext>
            </a:extLst>
          </p:cNvPr>
          <p:cNvPicPr>
            <a:picLocks noChangeAspect="1"/>
          </p:cNvPicPr>
          <p:nvPr/>
        </p:nvPicPr>
        <p:blipFill>
          <a:blip r:embed="rId4"/>
          <a:stretch>
            <a:fillRect/>
          </a:stretch>
        </p:blipFill>
        <p:spPr>
          <a:xfrm>
            <a:off x="7113638" y="2908296"/>
            <a:ext cx="2702481" cy="1760574"/>
          </a:xfrm>
          <a:prstGeom prst="rect">
            <a:avLst/>
          </a:prstGeom>
        </p:spPr>
      </p:pic>
      <p:sp>
        <p:nvSpPr>
          <p:cNvPr id="10" name="Rectangle 1">
            <a:extLst>
              <a:ext uri="{FF2B5EF4-FFF2-40B4-BE49-F238E27FC236}">
                <a16:creationId xmlns:a16="http://schemas.microsoft.com/office/drawing/2014/main" id="{839DEBB5-60C7-6021-7F02-37D6B0D73657}"/>
              </a:ext>
            </a:extLst>
          </p:cNvPr>
          <p:cNvSpPr>
            <a:spLocks noChangeArrowheads="1"/>
          </p:cNvSpPr>
          <p:nvPr/>
        </p:nvSpPr>
        <p:spPr bwMode="auto">
          <a:xfrm>
            <a:off x="533400" y="4873547"/>
            <a:ext cx="109814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Highest-Paying Roles</a:t>
            </a:r>
            <a:r>
              <a:rPr kumimoji="0" lang="en-US" altLang="en-US" sz="1800" b="0" i="0" u="none" strike="noStrike" cap="none" normalizeH="0" baseline="0" dirty="0">
                <a:ln>
                  <a:noFill/>
                </a:ln>
                <a:solidFill>
                  <a:schemeClr val="tx1"/>
                </a:solidFill>
                <a:effectLst/>
                <a:latin typeface="Arial" panose="020B0604020202020204" pitchFamily="34" charset="0"/>
              </a:rPr>
              <a:t>: This pinpoints the specific job titles that offer the most money, showing which roles are the most valued in the organization.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Departmental Budgeting</a:t>
            </a:r>
            <a:r>
              <a:rPr kumimoji="0" lang="en-US" altLang="en-US" sz="1800" b="0" i="0" u="none" strike="noStrike" cap="none" normalizeH="0" baseline="0" dirty="0">
                <a:ln>
                  <a:noFill/>
                </a:ln>
                <a:solidFill>
                  <a:schemeClr val="tx1"/>
                </a:solidFill>
                <a:effectLst/>
                <a:latin typeface="Arial" panose="020B0604020202020204" pitchFamily="34" charset="0"/>
              </a:rPr>
              <a:t>: This reveals which departments are the most expensive to run by showing who gets the largest share of the total salary budget</a:t>
            </a:r>
          </a:p>
        </p:txBody>
      </p:sp>
      <p:sp>
        <p:nvSpPr>
          <p:cNvPr id="5" name="TextBox 4">
            <a:extLst>
              <a:ext uri="{FF2B5EF4-FFF2-40B4-BE49-F238E27FC236}">
                <a16:creationId xmlns:a16="http://schemas.microsoft.com/office/drawing/2014/main" id="{731874EC-7FB0-4501-82B7-971A25A48C1A}"/>
              </a:ext>
            </a:extLst>
          </p:cNvPr>
          <p:cNvSpPr txBox="1"/>
          <p:nvPr/>
        </p:nvSpPr>
        <p:spPr>
          <a:xfrm>
            <a:off x="7010400" y="44285"/>
            <a:ext cx="1752600" cy="369332"/>
          </a:xfrm>
          <a:prstGeom prst="rect">
            <a:avLst/>
          </a:prstGeom>
          <a:noFill/>
        </p:spPr>
        <p:txBody>
          <a:bodyPr wrap="square">
            <a:spAutoFit/>
          </a:bodyPr>
          <a:lstStyle/>
          <a:p>
            <a:r>
              <a:rPr lang="en-US" b="1" dirty="0">
                <a:solidFill>
                  <a:schemeClr val="tx1"/>
                </a:solidFill>
              </a:rPr>
              <a:t>OUTPUT</a:t>
            </a:r>
            <a:endParaRPr lang="en-IN" b="1" dirty="0">
              <a:solidFill>
                <a:schemeClr val="tx1"/>
              </a:solidFill>
            </a:endParaRPr>
          </a:p>
        </p:txBody>
      </p:sp>
      <p:sp>
        <p:nvSpPr>
          <p:cNvPr id="9" name="TextBox 8">
            <a:extLst>
              <a:ext uri="{FF2B5EF4-FFF2-40B4-BE49-F238E27FC236}">
                <a16:creationId xmlns:a16="http://schemas.microsoft.com/office/drawing/2014/main" id="{05359D31-DA2C-5636-92CB-7118F729E480}"/>
              </a:ext>
            </a:extLst>
          </p:cNvPr>
          <p:cNvSpPr txBox="1"/>
          <p:nvPr/>
        </p:nvSpPr>
        <p:spPr>
          <a:xfrm>
            <a:off x="533400" y="4374256"/>
            <a:ext cx="6096000" cy="369332"/>
          </a:xfrm>
          <a:prstGeom prst="rect">
            <a:avLst/>
          </a:prstGeom>
          <a:noFill/>
        </p:spPr>
        <p:txBody>
          <a:bodyPr wrap="square">
            <a:spAutoFit/>
          </a:bodyPr>
          <a:lstStyle/>
          <a:p>
            <a:r>
              <a:rPr lang="en-US" b="1" dirty="0">
                <a:solidFill>
                  <a:srgbClr val="FF0000"/>
                </a:solidFill>
              </a:rPr>
              <a:t>KEY INSIGHTS</a:t>
            </a:r>
            <a:endParaRPr lang="en-IN" b="1" dirty="0">
              <a:solidFill>
                <a:srgbClr val="FF0000"/>
              </a:solidFill>
            </a:endParaRPr>
          </a:p>
        </p:txBody>
      </p:sp>
    </p:spTree>
    <p:extLst>
      <p:ext uri="{BB962C8B-B14F-4D97-AF65-F5344CB8AC3E}">
        <p14:creationId xmlns:p14="http://schemas.microsoft.com/office/powerpoint/2010/main" val="2377107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548E0A-1519-E3DA-84B6-3558107AF144}"/>
              </a:ext>
            </a:extLst>
          </p:cNvPr>
          <p:cNvSpPr txBox="1"/>
          <p:nvPr/>
        </p:nvSpPr>
        <p:spPr>
          <a:xfrm flipH="1">
            <a:off x="228600" y="304800"/>
            <a:ext cx="5181600" cy="397738"/>
          </a:xfrm>
          <a:prstGeom prst="rect">
            <a:avLst/>
          </a:prstGeom>
          <a:noFill/>
        </p:spPr>
        <p:txBody>
          <a:bodyPr wrap="square">
            <a:spAutoFit/>
          </a:bodyPr>
          <a:lstStyle/>
          <a:p>
            <a:pPr marL="6350" indent="-6350">
              <a:lnSpc>
                <a:spcPct val="107000"/>
              </a:lnSpc>
              <a:spcAft>
                <a:spcPts val="1210"/>
              </a:spcAft>
              <a:buNone/>
            </a:pPr>
            <a:r>
              <a:rPr lang="en-IN" sz="2000" b="1" kern="100" dirty="0">
                <a:solidFill>
                  <a:srgbClr val="C00000"/>
                </a:solidFill>
                <a:effectLst/>
                <a:latin typeface="Arial" panose="020B0604020202020204" pitchFamily="34" charset="0"/>
                <a:ea typeface="Arial" panose="020B0604020202020204" pitchFamily="34" charset="0"/>
              </a:rPr>
              <a:t>QUALIFICATION AND SKILLS ANALYSIS </a:t>
            </a:r>
          </a:p>
        </p:txBody>
      </p:sp>
      <p:pic>
        <p:nvPicPr>
          <p:cNvPr id="5" name="Picture 4">
            <a:extLst>
              <a:ext uri="{FF2B5EF4-FFF2-40B4-BE49-F238E27FC236}">
                <a16:creationId xmlns:a16="http://schemas.microsoft.com/office/drawing/2014/main" id="{B37EDE0B-4683-F64A-C93D-EF9AD9555C7F}"/>
              </a:ext>
            </a:extLst>
          </p:cNvPr>
          <p:cNvPicPr>
            <a:picLocks noChangeAspect="1"/>
          </p:cNvPicPr>
          <p:nvPr/>
        </p:nvPicPr>
        <p:blipFill>
          <a:blip r:embed="rId2"/>
          <a:stretch>
            <a:fillRect/>
          </a:stretch>
        </p:blipFill>
        <p:spPr>
          <a:xfrm>
            <a:off x="304800" y="990600"/>
            <a:ext cx="6599050" cy="4648200"/>
          </a:xfrm>
          <a:prstGeom prst="rect">
            <a:avLst/>
          </a:prstGeom>
        </p:spPr>
      </p:pic>
      <p:pic>
        <p:nvPicPr>
          <p:cNvPr id="7" name="Picture 6">
            <a:extLst>
              <a:ext uri="{FF2B5EF4-FFF2-40B4-BE49-F238E27FC236}">
                <a16:creationId xmlns:a16="http://schemas.microsoft.com/office/drawing/2014/main" id="{2D7FB783-D927-5B38-FA89-FBE49DDA180C}"/>
              </a:ext>
            </a:extLst>
          </p:cNvPr>
          <p:cNvPicPr>
            <a:picLocks noChangeAspect="1"/>
          </p:cNvPicPr>
          <p:nvPr/>
        </p:nvPicPr>
        <p:blipFill>
          <a:blip r:embed="rId3"/>
          <a:stretch>
            <a:fillRect/>
          </a:stretch>
        </p:blipFill>
        <p:spPr>
          <a:xfrm>
            <a:off x="7546457" y="762000"/>
            <a:ext cx="2248214" cy="638264"/>
          </a:xfrm>
          <a:prstGeom prst="rect">
            <a:avLst/>
          </a:prstGeom>
        </p:spPr>
      </p:pic>
      <p:pic>
        <p:nvPicPr>
          <p:cNvPr id="9" name="Picture 8">
            <a:extLst>
              <a:ext uri="{FF2B5EF4-FFF2-40B4-BE49-F238E27FC236}">
                <a16:creationId xmlns:a16="http://schemas.microsoft.com/office/drawing/2014/main" id="{0371DE0C-A4C5-1E12-9F6E-92F9E29B7734}"/>
              </a:ext>
            </a:extLst>
          </p:cNvPr>
          <p:cNvPicPr>
            <a:picLocks noChangeAspect="1"/>
          </p:cNvPicPr>
          <p:nvPr/>
        </p:nvPicPr>
        <p:blipFill>
          <a:blip r:embed="rId4"/>
          <a:stretch>
            <a:fillRect/>
          </a:stretch>
        </p:blipFill>
        <p:spPr>
          <a:xfrm>
            <a:off x="7391400" y="1676400"/>
            <a:ext cx="2882425" cy="2114744"/>
          </a:xfrm>
          <a:prstGeom prst="rect">
            <a:avLst/>
          </a:prstGeom>
        </p:spPr>
      </p:pic>
      <p:pic>
        <p:nvPicPr>
          <p:cNvPr id="11" name="Picture 10">
            <a:extLst>
              <a:ext uri="{FF2B5EF4-FFF2-40B4-BE49-F238E27FC236}">
                <a16:creationId xmlns:a16="http://schemas.microsoft.com/office/drawing/2014/main" id="{88733478-1BEF-B0F7-223E-AD64984D36BC}"/>
              </a:ext>
            </a:extLst>
          </p:cNvPr>
          <p:cNvPicPr>
            <a:picLocks noChangeAspect="1"/>
          </p:cNvPicPr>
          <p:nvPr/>
        </p:nvPicPr>
        <p:blipFill>
          <a:blip r:embed="rId5"/>
          <a:stretch>
            <a:fillRect/>
          </a:stretch>
        </p:blipFill>
        <p:spPr>
          <a:xfrm>
            <a:off x="7546457" y="4167240"/>
            <a:ext cx="2085423" cy="2028720"/>
          </a:xfrm>
          <a:prstGeom prst="rect">
            <a:avLst/>
          </a:prstGeom>
        </p:spPr>
      </p:pic>
      <p:sp>
        <p:nvSpPr>
          <p:cNvPr id="4" name="TextBox 3">
            <a:extLst>
              <a:ext uri="{FF2B5EF4-FFF2-40B4-BE49-F238E27FC236}">
                <a16:creationId xmlns:a16="http://schemas.microsoft.com/office/drawing/2014/main" id="{6A33A53C-D6A5-98DD-D169-9A7DC00B0941}"/>
              </a:ext>
            </a:extLst>
          </p:cNvPr>
          <p:cNvSpPr txBox="1"/>
          <p:nvPr/>
        </p:nvSpPr>
        <p:spPr>
          <a:xfrm>
            <a:off x="7423355" y="287792"/>
            <a:ext cx="1219200" cy="369332"/>
          </a:xfrm>
          <a:prstGeom prst="rect">
            <a:avLst/>
          </a:prstGeom>
          <a:noFill/>
        </p:spPr>
        <p:txBody>
          <a:bodyPr wrap="square">
            <a:spAutoFit/>
          </a:bodyPr>
          <a:lstStyle/>
          <a:p>
            <a:r>
              <a:rPr lang="en-US" b="1" dirty="0">
                <a:solidFill>
                  <a:schemeClr val="tx1"/>
                </a:solidFill>
              </a:rPr>
              <a:t>OUTPUT</a:t>
            </a:r>
            <a:endParaRPr lang="en-IN" b="1" dirty="0">
              <a:solidFill>
                <a:schemeClr val="tx1"/>
              </a:solidFill>
            </a:endParaRPr>
          </a:p>
        </p:txBody>
      </p:sp>
    </p:spTree>
    <p:extLst>
      <p:ext uri="{BB962C8B-B14F-4D97-AF65-F5344CB8AC3E}">
        <p14:creationId xmlns:p14="http://schemas.microsoft.com/office/powerpoint/2010/main" val="3435788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019B39-8A20-FE7E-9935-E1E5A9592A2B}"/>
              </a:ext>
            </a:extLst>
          </p:cNvPr>
          <p:cNvSpPr>
            <a:spLocks noChangeArrowheads="1"/>
          </p:cNvSpPr>
          <p:nvPr/>
        </p:nvSpPr>
        <p:spPr bwMode="auto">
          <a:xfrm>
            <a:off x="304800" y="921856"/>
            <a:ext cx="10591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Qualified Workforce</a:t>
            </a:r>
            <a:r>
              <a:rPr kumimoji="0" lang="en-US" altLang="en-US" sz="1800" b="0" i="0" u="none" strike="noStrike" cap="none" normalizeH="0" baseline="0" dirty="0">
                <a:ln>
                  <a:noFill/>
                </a:ln>
                <a:solidFill>
                  <a:schemeClr val="tx1"/>
                </a:solidFill>
                <a:effectLst/>
                <a:latin typeface="Arial" panose="020B0604020202020204" pitchFamily="34" charset="0"/>
              </a:rPr>
              <a:t>: This tells us how many employees have at least one professional degree or special skill registered in the system.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High-Demand Roles</a:t>
            </a:r>
            <a:r>
              <a:rPr kumimoji="0" lang="en-US" altLang="en-US" sz="1800" b="0" i="0" u="none" strike="noStrike" cap="none" normalizeH="0" baseline="0" dirty="0">
                <a:ln>
                  <a:noFill/>
                </a:ln>
                <a:solidFill>
                  <a:schemeClr val="tx1"/>
                </a:solidFill>
                <a:effectLst/>
                <a:latin typeface="Arial" panose="020B0604020202020204" pitchFamily="34" charset="0"/>
              </a:rPr>
              <a:t>: This identifies which specific job positions are the most complex and require the highest number of qualifications to perform.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Top Talent Identification</a:t>
            </a:r>
            <a:r>
              <a:rPr kumimoji="0" lang="en-US" altLang="en-US" sz="1800" b="0" i="0" u="none" strike="noStrike" cap="none" normalizeH="0" baseline="0" dirty="0">
                <a:ln>
                  <a:noFill/>
                </a:ln>
                <a:solidFill>
                  <a:schemeClr val="tx1"/>
                </a:solidFill>
                <a:effectLst/>
                <a:latin typeface="Arial" panose="020B0604020202020204" pitchFamily="34" charset="0"/>
              </a:rPr>
              <a:t>: This highlights the "star" employees who have the most certifications and skills on their profile.</a:t>
            </a:r>
          </a:p>
        </p:txBody>
      </p:sp>
      <p:sp>
        <p:nvSpPr>
          <p:cNvPr id="4" name="TextBox 3">
            <a:extLst>
              <a:ext uri="{FF2B5EF4-FFF2-40B4-BE49-F238E27FC236}">
                <a16:creationId xmlns:a16="http://schemas.microsoft.com/office/drawing/2014/main" id="{4B8B20B3-DC30-ED08-CA3F-9F726D4C6520}"/>
              </a:ext>
            </a:extLst>
          </p:cNvPr>
          <p:cNvSpPr txBox="1"/>
          <p:nvPr/>
        </p:nvSpPr>
        <p:spPr>
          <a:xfrm>
            <a:off x="314632" y="381000"/>
            <a:ext cx="6096000" cy="369332"/>
          </a:xfrm>
          <a:prstGeom prst="rect">
            <a:avLst/>
          </a:prstGeom>
          <a:noFill/>
        </p:spPr>
        <p:txBody>
          <a:bodyPr wrap="square">
            <a:spAutoFit/>
          </a:bodyPr>
          <a:lstStyle/>
          <a:p>
            <a:r>
              <a:rPr lang="en-US" b="1" dirty="0">
                <a:solidFill>
                  <a:srgbClr val="FF0000"/>
                </a:solidFill>
              </a:rPr>
              <a:t>KEY INSIGHTS</a:t>
            </a:r>
            <a:endParaRPr lang="en-IN" b="1" dirty="0">
              <a:solidFill>
                <a:srgbClr val="FF0000"/>
              </a:solidFill>
            </a:endParaRPr>
          </a:p>
        </p:txBody>
      </p:sp>
    </p:spTree>
    <p:extLst>
      <p:ext uri="{BB962C8B-B14F-4D97-AF65-F5344CB8AC3E}">
        <p14:creationId xmlns:p14="http://schemas.microsoft.com/office/powerpoint/2010/main" val="3091252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1646B2-43C4-1A5A-1D2F-000883381E94}"/>
              </a:ext>
            </a:extLst>
          </p:cNvPr>
          <p:cNvPicPr>
            <a:picLocks noChangeAspect="1"/>
          </p:cNvPicPr>
          <p:nvPr/>
        </p:nvPicPr>
        <p:blipFill>
          <a:blip r:embed="rId2"/>
          <a:stretch>
            <a:fillRect/>
          </a:stretch>
        </p:blipFill>
        <p:spPr>
          <a:xfrm>
            <a:off x="152400" y="1086558"/>
            <a:ext cx="7467600" cy="3026039"/>
          </a:xfrm>
          <a:prstGeom prst="rect">
            <a:avLst/>
          </a:prstGeom>
        </p:spPr>
      </p:pic>
      <p:sp>
        <p:nvSpPr>
          <p:cNvPr id="4" name="TextBox 3">
            <a:extLst>
              <a:ext uri="{FF2B5EF4-FFF2-40B4-BE49-F238E27FC236}">
                <a16:creationId xmlns:a16="http://schemas.microsoft.com/office/drawing/2014/main" id="{0AAE6336-4632-8FA6-AB49-6DDAEEB7A03A}"/>
              </a:ext>
            </a:extLst>
          </p:cNvPr>
          <p:cNvSpPr txBox="1"/>
          <p:nvPr/>
        </p:nvSpPr>
        <p:spPr>
          <a:xfrm>
            <a:off x="381001" y="228601"/>
            <a:ext cx="4419599" cy="677108"/>
          </a:xfrm>
          <a:prstGeom prst="rect">
            <a:avLst/>
          </a:prstGeom>
          <a:noFill/>
        </p:spPr>
        <p:txBody>
          <a:bodyPr wrap="square" rtlCol="0">
            <a:spAutoFit/>
          </a:bodyPr>
          <a:lstStyle/>
          <a:p>
            <a:r>
              <a:rPr lang="en-IN" sz="2000" b="1" dirty="0">
                <a:solidFill>
                  <a:srgbClr val="FF0000"/>
                </a:solidFill>
              </a:rPr>
              <a:t>LEAVE AND ABSENCE PATTERNS </a:t>
            </a:r>
          </a:p>
          <a:p>
            <a:endParaRPr lang="en-IN" dirty="0"/>
          </a:p>
        </p:txBody>
      </p:sp>
      <p:sp>
        <p:nvSpPr>
          <p:cNvPr id="5" name="Rectangle 1">
            <a:extLst>
              <a:ext uri="{FF2B5EF4-FFF2-40B4-BE49-F238E27FC236}">
                <a16:creationId xmlns:a16="http://schemas.microsoft.com/office/drawing/2014/main" id="{E20A037A-FF41-8B74-48AB-E26CCBF4DDDC}"/>
              </a:ext>
            </a:extLst>
          </p:cNvPr>
          <p:cNvSpPr>
            <a:spLocks noChangeArrowheads="1"/>
          </p:cNvSpPr>
          <p:nvPr/>
        </p:nvSpPr>
        <p:spPr bwMode="auto">
          <a:xfrm>
            <a:off x="398206" y="4607984"/>
            <a:ext cx="1141279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Busiest Leave Year</a:t>
            </a:r>
            <a:r>
              <a:rPr kumimoji="0" lang="en-US" altLang="en-US" sz="1800" b="0" i="0" u="none" strike="noStrike" cap="none" normalizeH="0" baseline="0" dirty="0">
                <a:ln>
                  <a:noFill/>
                </a:ln>
                <a:solidFill>
                  <a:schemeClr val="tx1"/>
                </a:solidFill>
                <a:effectLst/>
                <a:latin typeface="Arial" panose="020B0604020202020204" pitchFamily="34" charset="0"/>
              </a:rPr>
              <a:t>: This identifies the specific year when the most employees were away from work, helping the company spot long-term attendance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Departmental Absence</a:t>
            </a:r>
            <a:r>
              <a:rPr kumimoji="0" lang="en-US" altLang="en-US" sz="1800" b="0" i="0" u="none" strike="noStrike" cap="none" normalizeH="0" baseline="0" dirty="0">
                <a:ln>
                  <a:noFill/>
                </a:ln>
                <a:solidFill>
                  <a:schemeClr val="tx1"/>
                </a:solidFill>
                <a:effectLst/>
                <a:latin typeface="Arial" panose="020B0604020202020204" pitchFamily="34" charset="0"/>
              </a:rPr>
              <a:t>: This shows the average number of days employees in each department are absent, highlighting which teams might be understaffed or overworked.</a:t>
            </a:r>
          </a:p>
        </p:txBody>
      </p:sp>
      <p:pic>
        <p:nvPicPr>
          <p:cNvPr id="7" name="Picture 6">
            <a:extLst>
              <a:ext uri="{FF2B5EF4-FFF2-40B4-BE49-F238E27FC236}">
                <a16:creationId xmlns:a16="http://schemas.microsoft.com/office/drawing/2014/main" id="{71249509-E539-BC11-2B74-D040E11CFAC5}"/>
              </a:ext>
            </a:extLst>
          </p:cNvPr>
          <p:cNvPicPr>
            <a:picLocks noChangeAspect="1"/>
          </p:cNvPicPr>
          <p:nvPr/>
        </p:nvPicPr>
        <p:blipFill>
          <a:blip r:embed="rId3"/>
          <a:stretch>
            <a:fillRect/>
          </a:stretch>
        </p:blipFill>
        <p:spPr>
          <a:xfrm>
            <a:off x="8382000" y="1116055"/>
            <a:ext cx="2210108" cy="590632"/>
          </a:xfrm>
          <a:prstGeom prst="rect">
            <a:avLst/>
          </a:prstGeom>
        </p:spPr>
      </p:pic>
      <p:pic>
        <p:nvPicPr>
          <p:cNvPr id="9" name="Picture 8">
            <a:extLst>
              <a:ext uri="{FF2B5EF4-FFF2-40B4-BE49-F238E27FC236}">
                <a16:creationId xmlns:a16="http://schemas.microsoft.com/office/drawing/2014/main" id="{20F845EC-0A58-9E34-D40A-4838B448BFFE}"/>
              </a:ext>
            </a:extLst>
          </p:cNvPr>
          <p:cNvPicPr>
            <a:picLocks noChangeAspect="1"/>
          </p:cNvPicPr>
          <p:nvPr/>
        </p:nvPicPr>
        <p:blipFill>
          <a:blip r:embed="rId4"/>
          <a:stretch>
            <a:fillRect/>
          </a:stretch>
        </p:blipFill>
        <p:spPr>
          <a:xfrm>
            <a:off x="8229600" y="2455025"/>
            <a:ext cx="3134162" cy="1905266"/>
          </a:xfrm>
          <a:prstGeom prst="rect">
            <a:avLst/>
          </a:prstGeom>
        </p:spPr>
      </p:pic>
      <p:sp>
        <p:nvSpPr>
          <p:cNvPr id="11" name="TextBox 10">
            <a:extLst>
              <a:ext uri="{FF2B5EF4-FFF2-40B4-BE49-F238E27FC236}">
                <a16:creationId xmlns:a16="http://schemas.microsoft.com/office/drawing/2014/main" id="{F15B8F29-25F6-7D2B-94C6-57AD85D8D897}"/>
              </a:ext>
            </a:extLst>
          </p:cNvPr>
          <p:cNvSpPr txBox="1"/>
          <p:nvPr/>
        </p:nvSpPr>
        <p:spPr>
          <a:xfrm>
            <a:off x="8367252" y="567155"/>
            <a:ext cx="1295400" cy="369332"/>
          </a:xfrm>
          <a:prstGeom prst="rect">
            <a:avLst/>
          </a:prstGeom>
          <a:noFill/>
        </p:spPr>
        <p:txBody>
          <a:bodyPr wrap="square">
            <a:spAutoFit/>
          </a:bodyPr>
          <a:lstStyle/>
          <a:p>
            <a:r>
              <a:rPr lang="en-US" b="1" dirty="0">
                <a:solidFill>
                  <a:schemeClr val="tx1"/>
                </a:solidFill>
              </a:rPr>
              <a:t>OUTPUT</a:t>
            </a:r>
            <a:endParaRPr lang="en-IN" b="1" dirty="0">
              <a:solidFill>
                <a:schemeClr val="tx1"/>
              </a:solidFill>
            </a:endParaRPr>
          </a:p>
        </p:txBody>
      </p:sp>
      <p:sp>
        <p:nvSpPr>
          <p:cNvPr id="13" name="TextBox 12">
            <a:extLst>
              <a:ext uri="{FF2B5EF4-FFF2-40B4-BE49-F238E27FC236}">
                <a16:creationId xmlns:a16="http://schemas.microsoft.com/office/drawing/2014/main" id="{A95CBEC6-E035-DFBC-D936-2B897FC33291}"/>
              </a:ext>
            </a:extLst>
          </p:cNvPr>
          <p:cNvSpPr txBox="1"/>
          <p:nvPr/>
        </p:nvSpPr>
        <p:spPr>
          <a:xfrm>
            <a:off x="398206" y="4207579"/>
            <a:ext cx="6096000" cy="369332"/>
          </a:xfrm>
          <a:prstGeom prst="rect">
            <a:avLst/>
          </a:prstGeom>
          <a:noFill/>
        </p:spPr>
        <p:txBody>
          <a:bodyPr wrap="square">
            <a:spAutoFit/>
          </a:bodyPr>
          <a:lstStyle/>
          <a:p>
            <a:r>
              <a:rPr lang="en-US" b="1" dirty="0">
                <a:solidFill>
                  <a:srgbClr val="FF0000"/>
                </a:solidFill>
              </a:rPr>
              <a:t>KEY INSIGHTS</a:t>
            </a:r>
            <a:endParaRPr lang="en-IN" b="1" dirty="0">
              <a:solidFill>
                <a:srgbClr val="FF0000"/>
              </a:solidFill>
            </a:endParaRPr>
          </a:p>
        </p:txBody>
      </p:sp>
    </p:spTree>
    <p:extLst>
      <p:ext uri="{BB962C8B-B14F-4D97-AF65-F5344CB8AC3E}">
        <p14:creationId xmlns:p14="http://schemas.microsoft.com/office/powerpoint/2010/main" val="334142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922B42-A0E1-CC29-80C0-B792646BE6BD}"/>
              </a:ext>
            </a:extLst>
          </p:cNvPr>
          <p:cNvPicPr>
            <a:picLocks noChangeAspect="1"/>
          </p:cNvPicPr>
          <p:nvPr/>
        </p:nvPicPr>
        <p:blipFill>
          <a:blip r:embed="rId2"/>
          <a:stretch>
            <a:fillRect/>
          </a:stretch>
        </p:blipFill>
        <p:spPr>
          <a:xfrm>
            <a:off x="0" y="685800"/>
            <a:ext cx="7897327" cy="3305636"/>
          </a:xfrm>
          <a:prstGeom prst="rect">
            <a:avLst/>
          </a:prstGeom>
        </p:spPr>
      </p:pic>
      <p:pic>
        <p:nvPicPr>
          <p:cNvPr id="5" name="Picture 4">
            <a:extLst>
              <a:ext uri="{FF2B5EF4-FFF2-40B4-BE49-F238E27FC236}">
                <a16:creationId xmlns:a16="http://schemas.microsoft.com/office/drawing/2014/main" id="{8FE73F67-A4AB-7779-5FBB-A7B7C9CD2A82}"/>
              </a:ext>
            </a:extLst>
          </p:cNvPr>
          <p:cNvPicPr>
            <a:picLocks noChangeAspect="1"/>
          </p:cNvPicPr>
          <p:nvPr/>
        </p:nvPicPr>
        <p:blipFill>
          <a:blip r:embed="rId3"/>
          <a:stretch>
            <a:fillRect/>
          </a:stretch>
        </p:blipFill>
        <p:spPr>
          <a:xfrm>
            <a:off x="8839200" y="914400"/>
            <a:ext cx="2133898" cy="514422"/>
          </a:xfrm>
          <a:prstGeom prst="rect">
            <a:avLst/>
          </a:prstGeom>
        </p:spPr>
      </p:pic>
      <p:pic>
        <p:nvPicPr>
          <p:cNvPr id="7" name="Picture 6">
            <a:extLst>
              <a:ext uri="{FF2B5EF4-FFF2-40B4-BE49-F238E27FC236}">
                <a16:creationId xmlns:a16="http://schemas.microsoft.com/office/drawing/2014/main" id="{CB017D31-D4A6-1E62-B9DE-9B889C658318}"/>
              </a:ext>
            </a:extLst>
          </p:cNvPr>
          <p:cNvPicPr>
            <a:picLocks noChangeAspect="1"/>
          </p:cNvPicPr>
          <p:nvPr/>
        </p:nvPicPr>
        <p:blipFill>
          <a:blip r:embed="rId4"/>
          <a:stretch>
            <a:fillRect/>
          </a:stretch>
        </p:blipFill>
        <p:spPr>
          <a:xfrm>
            <a:off x="8686800" y="1600200"/>
            <a:ext cx="2724530" cy="2552289"/>
          </a:xfrm>
          <a:prstGeom prst="rect">
            <a:avLst/>
          </a:prstGeom>
        </p:spPr>
      </p:pic>
      <p:sp>
        <p:nvSpPr>
          <p:cNvPr id="8" name="Rectangle 1">
            <a:extLst>
              <a:ext uri="{FF2B5EF4-FFF2-40B4-BE49-F238E27FC236}">
                <a16:creationId xmlns:a16="http://schemas.microsoft.com/office/drawing/2014/main" id="{F54E0423-A2FD-E665-6EF3-0C708081647F}"/>
              </a:ext>
            </a:extLst>
          </p:cNvPr>
          <p:cNvSpPr>
            <a:spLocks noChangeArrowheads="1"/>
          </p:cNvSpPr>
          <p:nvPr/>
        </p:nvSpPr>
        <p:spPr bwMode="auto">
          <a:xfrm>
            <a:off x="228600" y="4694872"/>
            <a:ext cx="11353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Company-Wide Total</a:t>
            </a:r>
            <a:r>
              <a:rPr kumimoji="0" lang="en-US" altLang="en-US" sz="1800" b="0" i="0" u="none" strike="noStrike" cap="none" normalizeH="0" baseline="0" dirty="0">
                <a:ln>
                  <a:noFill/>
                </a:ln>
                <a:solidFill>
                  <a:schemeClr val="tx1"/>
                </a:solidFill>
                <a:effectLst/>
                <a:latin typeface="Arial" panose="020B0604020202020204" pitchFamily="34" charset="0"/>
              </a:rPr>
              <a:t>: This calculates the grand total of every single leave day taken by all staff, showing the overall impact on working hours.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Impact on Paychecks</a:t>
            </a:r>
            <a:r>
              <a:rPr kumimoji="0" lang="en-US" altLang="en-US" sz="1800" b="0" i="0" u="none" strike="noStrike" cap="none" normalizeH="0" baseline="0" dirty="0">
                <a:ln>
                  <a:noFill/>
                </a:ln>
                <a:solidFill>
                  <a:schemeClr val="tx1"/>
                </a:solidFill>
                <a:effectLst/>
                <a:latin typeface="Arial" panose="020B0604020202020204" pitchFamily="34" charset="0"/>
              </a:rPr>
              <a:t>: This analyzes how taking days off directly changes the final payroll amount, showing how absences lead to salary deductions</a:t>
            </a:r>
          </a:p>
        </p:txBody>
      </p:sp>
      <p:sp>
        <p:nvSpPr>
          <p:cNvPr id="10" name="TextBox 9">
            <a:extLst>
              <a:ext uri="{FF2B5EF4-FFF2-40B4-BE49-F238E27FC236}">
                <a16:creationId xmlns:a16="http://schemas.microsoft.com/office/drawing/2014/main" id="{15ED13AD-B823-9E8B-E9EC-E9F4E0CFEA6A}"/>
              </a:ext>
            </a:extLst>
          </p:cNvPr>
          <p:cNvSpPr txBox="1"/>
          <p:nvPr/>
        </p:nvSpPr>
        <p:spPr>
          <a:xfrm>
            <a:off x="8676968" y="372017"/>
            <a:ext cx="2133898" cy="369332"/>
          </a:xfrm>
          <a:prstGeom prst="rect">
            <a:avLst/>
          </a:prstGeom>
          <a:noFill/>
        </p:spPr>
        <p:txBody>
          <a:bodyPr wrap="square">
            <a:spAutoFit/>
          </a:bodyPr>
          <a:lstStyle/>
          <a:p>
            <a:r>
              <a:rPr lang="en-US" b="1" dirty="0">
                <a:solidFill>
                  <a:schemeClr val="tx1"/>
                </a:solidFill>
              </a:rPr>
              <a:t>OUTPUT</a:t>
            </a:r>
            <a:endParaRPr lang="en-IN" b="1" dirty="0">
              <a:solidFill>
                <a:schemeClr val="tx1"/>
              </a:solidFill>
            </a:endParaRPr>
          </a:p>
        </p:txBody>
      </p:sp>
      <p:sp>
        <p:nvSpPr>
          <p:cNvPr id="12" name="TextBox 11">
            <a:extLst>
              <a:ext uri="{FF2B5EF4-FFF2-40B4-BE49-F238E27FC236}">
                <a16:creationId xmlns:a16="http://schemas.microsoft.com/office/drawing/2014/main" id="{59FB91AD-850B-15B1-88A0-4F97B0620462}"/>
              </a:ext>
            </a:extLst>
          </p:cNvPr>
          <p:cNvSpPr txBox="1"/>
          <p:nvPr/>
        </p:nvSpPr>
        <p:spPr>
          <a:xfrm>
            <a:off x="228600" y="4214434"/>
            <a:ext cx="6096000" cy="369332"/>
          </a:xfrm>
          <a:prstGeom prst="rect">
            <a:avLst/>
          </a:prstGeom>
          <a:noFill/>
        </p:spPr>
        <p:txBody>
          <a:bodyPr wrap="square">
            <a:spAutoFit/>
          </a:bodyPr>
          <a:lstStyle/>
          <a:p>
            <a:r>
              <a:rPr lang="en-US" b="1" dirty="0">
                <a:solidFill>
                  <a:srgbClr val="FF0000"/>
                </a:solidFill>
              </a:rPr>
              <a:t>KEY INSIGHTS</a:t>
            </a:r>
            <a:endParaRPr lang="en-IN" b="1" dirty="0">
              <a:solidFill>
                <a:srgbClr val="FF0000"/>
              </a:solidFill>
            </a:endParaRPr>
          </a:p>
        </p:txBody>
      </p:sp>
    </p:spTree>
    <p:extLst>
      <p:ext uri="{BB962C8B-B14F-4D97-AF65-F5344CB8AC3E}">
        <p14:creationId xmlns:p14="http://schemas.microsoft.com/office/powerpoint/2010/main" val="1488219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9B01E4-5EC4-83ED-A5B5-B790C3D8C8E1}"/>
              </a:ext>
            </a:extLst>
          </p:cNvPr>
          <p:cNvSpPr txBox="1"/>
          <p:nvPr/>
        </p:nvSpPr>
        <p:spPr>
          <a:xfrm>
            <a:off x="228600" y="381000"/>
            <a:ext cx="6096000" cy="397738"/>
          </a:xfrm>
          <a:prstGeom prst="rect">
            <a:avLst/>
          </a:prstGeom>
          <a:noFill/>
        </p:spPr>
        <p:txBody>
          <a:bodyPr wrap="square">
            <a:spAutoFit/>
          </a:bodyPr>
          <a:lstStyle/>
          <a:p>
            <a:pPr marL="6350" indent="-6350">
              <a:lnSpc>
                <a:spcPct val="107000"/>
              </a:lnSpc>
              <a:spcAft>
                <a:spcPts val="1210"/>
              </a:spcAft>
              <a:buNone/>
            </a:pPr>
            <a:r>
              <a:rPr lang="en-IN" sz="2000" b="1" kern="100" dirty="0">
                <a:solidFill>
                  <a:srgbClr val="FF0000"/>
                </a:solidFill>
                <a:effectLst/>
                <a:latin typeface="Arial" panose="020B0604020202020204" pitchFamily="34" charset="0"/>
                <a:ea typeface="Arial" panose="020B0604020202020204" pitchFamily="34" charset="0"/>
              </a:rPr>
              <a:t>PAYROLL AND COMPENSATION ANALYSIS </a:t>
            </a:r>
          </a:p>
        </p:txBody>
      </p:sp>
      <p:pic>
        <p:nvPicPr>
          <p:cNvPr id="6" name="Picture 5">
            <a:extLst>
              <a:ext uri="{FF2B5EF4-FFF2-40B4-BE49-F238E27FC236}">
                <a16:creationId xmlns:a16="http://schemas.microsoft.com/office/drawing/2014/main" id="{23771113-5D90-CB40-4FE8-4543191CFF4B}"/>
              </a:ext>
            </a:extLst>
          </p:cNvPr>
          <p:cNvPicPr>
            <a:picLocks noChangeAspect="1"/>
          </p:cNvPicPr>
          <p:nvPr/>
        </p:nvPicPr>
        <p:blipFill>
          <a:blip r:embed="rId2"/>
          <a:stretch>
            <a:fillRect/>
          </a:stretch>
        </p:blipFill>
        <p:spPr>
          <a:xfrm>
            <a:off x="208935" y="990600"/>
            <a:ext cx="6030167" cy="3067478"/>
          </a:xfrm>
          <a:prstGeom prst="rect">
            <a:avLst/>
          </a:prstGeom>
        </p:spPr>
      </p:pic>
      <p:pic>
        <p:nvPicPr>
          <p:cNvPr id="8" name="Picture 7">
            <a:extLst>
              <a:ext uri="{FF2B5EF4-FFF2-40B4-BE49-F238E27FC236}">
                <a16:creationId xmlns:a16="http://schemas.microsoft.com/office/drawing/2014/main" id="{64017970-42A5-4B9A-E1B9-F84B94677EA1}"/>
              </a:ext>
            </a:extLst>
          </p:cNvPr>
          <p:cNvPicPr>
            <a:picLocks noChangeAspect="1"/>
          </p:cNvPicPr>
          <p:nvPr/>
        </p:nvPicPr>
        <p:blipFill>
          <a:blip r:embed="rId3"/>
          <a:stretch>
            <a:fillRect/>
          </a:stretch>
        </p:blipFill>
        <p:spPr>
          <a:xfrm>
            <a:off x="7924800" y="1219200"/>
            <a:ext cx="2505425" cy="533474"/>
          </a:xfrm>
          <a:prstGeom prst="rect">
            <a:avLst/>
          </a:prstGeom>
        </p:spPr>
      </p:pic>
      <p:pic>
        <p:nvPicPr>
          <p:cNvPr id="10" name="Picture 9">
            <a:extLst>
              <a:ext uri="{FF2B5EF4-FFF2-40B4-BE49-F238E27FC236}">
                <a16:creationId xmlns:a16="http://schemas.microsoft.com/office/drawing/2014/main" id="{3C60C420-59D3-EE53-79A5-6A218F1F8C17}"/>
              </a:ext>
            </a:extLst>
          </p:cNvPr>
          <p:cNvPicPr>
            <a:picLocks noChangeAspect="1"/>
          </p:cNvPicPr>
          <p:nvPr/>
        </p:nvPicPr>
        <p:blipFill>
          <a:blip r:embed="rId4"/>
          <a:stretch>
            <a:fillRect/>
          </a:stretch>
        </p:blipFill>
        <p:spPr>
          <a:xfrm>
            <a:off x="8229600" y="2057400"/>
            <a:ext cx="2362530" cy="1905266"/>
          </a:xfrm>
          <a:prstGeom prst="rect">
            <a:avLst/>
          </a:prstGeom>
        </p:spPr>
      </p:pic>
      <p:sp>
        <p:nvSpPr>
          <p:cNvPr id="11" name="Rectangle 1">
            <a:extLst>
              <a:ext uri="{FF2B5EF4-FFF2-40B4-BE49-F238E27FC236}">
                <a16:creationId xmlns:a16="http://schemas.microsoft.com/office/drawing/2014/main" id="{97B2E8CD-3959-0701-455E-8C46C79B86E9}"/>
              </a:ext>
            </a:extLst>
          </p:cNvPr>
          <p:cNvSpPr>
            <a:spLocks noChangeArrowheads="1"/>
          </p:cNvSpPr>
          <p:nvPr/>
        </p:nvSpPr>
        <p:spPr bwMode="auto">
          <a:xfrm>
            <a:off x="381000" y="4695735"/>
            <a:ext cx="10972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Total Monthly Payroll</a:t>
            </a:r>
            <a:r>
              <a:rPr kumimoji="0" lang="en-US" altLang="en-US" sz="1800" b="0" i="0" u="none" strike="noStrike" cap="none" normalizeH="0" baseline="0">
                <a:ln>
                  <a:noFill/>
                </a:ln>
                <a:solidFill>
                  <a:schemeClr val="tx1"/>
                </a:solidFill>
                <a:effectLst/>
                <a:latin typeface="Arial" panose="020B0604020202020204" pitchFamily="34" charset="0"/>
              </a:rPr>
              <a:t>: This calculates the grand total of money the company pays out to all employees every single month.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Average Bonus by Department</a:t>
            </a:r>
            <a:r>
              <a:rPr kumimoji="0" lang="en-US" altLang="en-US" sz="1800" b="0" i="0" u="none" strike="noStrike" cap="none" normalizeH="0" baseline="0">
                <a:ln>
                  <a:noFill/>
                </a:ln>
                <a:solidFill>
                  <a:schemeClr val="tx1"/>
                </a:solidFill>
                <a:effectLst/>
                <a:latin typeface="Arial" panose="020B0604020202020204" pitchFamily="34" charset="0"/>
              </a:rPr>
              <a:t>: This identifies the typical bonus amount given to employees in different teams, helping to see which departments are being rewarded the most.</a:t>
            </a:r>
          </a:p>
        </p:txBody>
      </p:sp>
      <p:sp>
        <p:nvSpPr>
          <p:cNvPr id="13" name="TextBox 12">
            <a:extLst>
              <a:ext uri="{FF2B5EF4-FFF2-40B4-BE49-F238E27FC236}">
                <a16:creationId xmlns:a16="http://schemas.microsoft.com/office/drawing/2014/main" id="{D31F63E3-1392-DDEE-C7F2-17DF315C412B}"/>
              </a:ext>
            </a:extLst>
          </p:cNvPr>
          <p:cNvSpPr txBox="1"/>
          <p:nvPr/>
        </p:nvSpPr>
        <p:spPr>
          <a:xfrm>
            <a:off x="8001000" y="570481"/>
            <a:ext cx="6096000" cy="369332"/>
          </a:xfrm>
          <a:prstGeom prst="rect">
            <a:avLst/>
          </a:prstGeom>
          <a:noFill/>
        </p:spPr>
        <p:txBody>
          <a:bodyPr wrap="square">
            <a:spAutoFit/>
          </a:bodyPr>
          <a:lstStyle/>
          <a:p>
            <a:r>
              <a:rPr lang="en-US" b="1" dirty="0">
                <a:solidFill>
                  <a:schemeClr val="tx1"/>
                </a:solidFill>
              </a:rPr>
              <a:t>OUTPUT</a:t>
            </a:r>
            <a:endParaRPr lang="en-IN" b="1" dirty="0">
              <a:solidFill>
                <a:schemeClr val="tx1"/>
              </a:solidFill>
            </a:endParaRPr>
          </a:p>
        </p:txBody>
      </p:sp>
      <p:sp>
        <p:nvSpPr>
          <p:cNvPr id="14" name="TextBox 13">
            <a:extLst>
              <a:ext uri="{FF2B5EF4-FFF2-40B4-BE49-F238E27FC236}">
                <a16:creationId xmlns:a16="http://schemas.microsoft.com/office/drawing/2014/main" id="{9FE831A3-9C57-50A5-B250-23BAA4C82E4B}"/>
              </a:ext>
            </a:extLst>
          </p:cNvPr>
          <p:cNvSpPr txBox="1"/>
          <p:nvPr/>
        </p:nvSpPr>
        <p:spPr>
          <a:xfrm>
            <a:off x="381000" y="4165328"/>
            <a:ext cx="2133599" cy="369332"/>
          </a:xfrm>
          <a:prstGeom prst="rect">
            <a:avLst/>
          </a:prstGeom>
          <a:noFill/>
        </p:spPr>
        <p:txBody>
          <a:bodyPr wrap="square" rtlCol="0">
            <a:spAutoFit/>
          </a:bodyPr>
          <a:lstStyle/>
          <a:p>
            <a:r>
              <a:rPr lang="en-US" b="1" dirty="0">
                <a:solidFill>
                  <a:srgbClr val="FF0000"/>
                </a:solidFill>
              </a:rPr>
              <a:t>KEY INSIGHTS</a:t>
            </a:r>
            <a:endParaRPr lang="en-IN" b="1" dirty="0">
              <a:solidFill>
                <a:srgbClr val="FF0000"/>
              </a:solidFill>
            </a:endParaRPr>
          </a:p>
        </p:txBody>
      </p:sp>
    </p:spTree>
    <p:extLst>
      <p:ext uri="{BB962C8B-B14F-4D97-AF65-F5344CB8AC3E}">
        <p14:creationId xmlns:p14="http://schemas.microsoft.com/office/powerpoint/2010/main" val="2861494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2D535A-A0B4-493D-9495-50111B5508FE}"/>
              </a:ext>
            </a:extLst>
          </p:cNvPr>
          <p:cNvPicPr>
            <a:picLocks noChangeAspect="1"/>
          </p:cNvPicPr>
          <p:nvPr/>
        </p:nvPicPr>
        <p:blipFill>
          <a:blip r:embed="rId2"/>
          <a:stretch>
            <a:fillRect/>
          </a:stretch>
        </p:blipFill>
        <p:spPr>
          <a:xfrm>
            <a:off x="152400" y="535743"/>
            <a:ext cx="6925642" cy="3077004"/>
          </a:xfrm>
          <a:prstGeom prst="rect">
            <a:avLst/>
          </a:prstGeom>
        </p:spPr>
      </p:pic>
      <p:pic>
        <p:nvPicPr>
          <p:cNvPr id="5" name="Picture 4">
            <a:extLst>
              <a:ext uri="{FF2B5EF4-FFF2-40B4-BE49-F238E27FC236}">
                <a16:creationId xmlns:a16="http://schemas.microsoft.com/office/drawing/2014/main" id="{6815DC40-1EEC-E951-1724-6559BE284CCB}"/>
              </a:ext>
            </a:extLst>
          </p:cNvPr>
          <p:cNvPicPr>
            <a:picLocks noChangeAspect="1"/>
          </p:cNvPicPr>
          <p:nvPr/>
        </p:nvPicPr>
        <p:blipFill>
          <a:blip r:embed="rId3"/>
          <a:stretch>
            <a:fillRect/>
          </a:stretch>
        </p:blipFill>
        <p:spPr>
          <a:xfrm>
            <a:off x="8001000" y="1066800"/>
            <a:ext cx="2753109" cy="543001"/>
          </a:xfrm>
          <a:prstGeom prst="rect">
            <a:avLst/>
          </a:prstGeom>
        </p:spPr>
      </p:pic>
      <p:pic>
        <p:nvPicPr>
          <p:cNvPr id="7" name="Picture 6">
            <a:extLst>
              <a:ext uri="{FF2B5EF4-FFF2-40B4-BE49-F238E27FC236}">
                <a16:creationId xmlns:a16="http://schemas.microsoft.com/office/drawing/2014/main" id="{D3253612-0615-8482-5266-0E6A0153235A}"/>
              </a:ext>
            </a:extLst>
          </p:cNvPr>
          <p:cNvPicPr>
            <a:picLocks noChangeAspect="1"/>
          </p:cNvPicPr>
          <p:nvPr/>
        </p:nvPicPr>
        <p:blipFill>
          <a:blip r:embed="rId4"/>
          <a:stretch>
            <a:fillRect/>
          </a:stretch>
        </p:blipFill>
        <p:spPr>
          <a:xfrm>
            <a:off x="8229600" y="2667000"/>
            <a:ext cx="1895740" cy="447737"/>
          </a:xfrm>
          <a:prstGeom prst="rect">
            <a:avLst/>
          </a:prstGeom>
        </p:spPr>
      </p:pic>
      <p:sp>
        <p:nvSpPr>
          <p:cNvPr id="8" name="Rectangle 1">
            <a:extLst>
              <a:ext uri="{FF2B5EF4-FFF2-40B4-BE49-F238E27FC236}">
                <a16:creationId xmlns:a16="http://schemas.microsoft.com/office/drawing/2014/main" id="{B7000D11-FF03-27E8-C125-735DDA2D6F4C}"/>
              </a:ext>
            </a:extLst>
          </p:cNvPr>
          <p:cNvSpPr>
            <a:spLocks noChangeArrowheads="1"/>
          </p:cNvSpPr>
          <p:nvPr/>
        </p:nvSpPr>
        <p:spPr bwMode="auto">
          <a:xfrm>
            <a:off x="275258" y="4543335"/>
            <a:ext cx="1138334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Highest Bonus Recipient</a:t>
            </a:r>
            <a:r>
              <a:rPr kumimoji="0" lang="en-US" altLang="en-US" sz="1800" b="0" i="0" u="none" strike="noStrike" cap="none" normalizeH="0" baseline="0" dirty="0">
                <a:ln>
                  <a:noFill/>
                </a:ln>
                <a:solidFill>
                  <a:schemeClr val="tx1"/>
                </a:solidFill>
                <a:effectLst/>
                <a:latin typeface="Arial" panose="020B0604020202020204" pitchFamily="34" charset="0"/>
              </a:rPr>
              <a:t>: This pinpoints the specific department that gets the largest "pot" of bonus money, highlighting the most rewarded area of the company.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Final Take-Home Pay</a:t>
            </a:r>
            <a:r>
              <a:rPr kumimoji="0" lang="en-US" altLang="en-US" sz="1800" b="0" i="0" u="none" strike="noStrike" cap="none" normalizeH="0" baseline="0" dirty="0">
                <a:ln>
                  <a:noFill/>
                </a:ln>
                <a:solidFill>
                  <a:schemeClr val="tx1"/>
                </a:solidFill>
                <a:effectLst/>
                <a:latin typeface="Arial" panose="020B0604020202020204" pitchFamily="34" charset="0"/>
              </a:rPr>
              <a:t>: This shows the average amount employees actually receive after the system subtracts money for the days they were absent (leave deductions)</a:t>
            </a:r>
          </a:p>
        </p:txBody>
      </p:sp>
      <p:sp>
        <p:nvSpPr>
          <p:cNvPr id="9" name="TextBox 8">
            <a:extLst>
              <a:ext uri="{FF2B5EF4-FFF2-40B4-BE49-F238E27FC236}">
                <a16:creationId xmlns:a16="http://schemas.microsoft.com/office/drawing/2014/main" id="{43C11E2D-C008-C79F-9FA7-9CAA489BE827}"/>
              </a:ext>
            </a:extLst>
          </p:cNvPr>
          <p:cNvSpPr txBox="1"/>
          <p:nvPr/>
        </p:nvSpPr>
        <p:spPr>
          <a:xfrm>
            <a:off x="8077200" y="383032"/>
            <a:ext cx="1562100" cy="369332"/>
          </a:xfrm>
          <a:prstGeom prst="rect">
            <a:avLst/>
          </a:prstGeom>
          <a:noFill/>
        </p:spPr>
        <p:txBody>
          <a:bodyPr wrap="square" rtlCol="0">
            <a:spAutoFit/>
          </a:bodyPr>
          <a:lstStyle/>
          <a:p>
            <a:r>
              <a:rPr lang="en-US" b="1" dirty="0">
                <a:solidFill>
                  <a:srgbClr val="FF0000"/>
                </a:solidFill>
              </a:rPr>
              <a:t>OUTPUT</a:t>
            </a:r>
            <a:endParaRPr lang="en-IN" b="1" dirty="0">
              <a:solidFill>
                <a:srgbClr val="FF0000"/>
              </a:solidFill>
            </a:endParaRPr>
          </a:p>
        </p:txBody>
      </p:sp>
      <p:sp>
        <p:nvSpPr>
          <p:cNvPr id="11" name="TextBox 10">
            <a:extLst>
              <a:ext uri="{FF2B5EF4-FFF2-40B4-BE49-F238E27FC236}">
                <a16:creationId xmlns:a16="http://schemas.microsoft.com/office/drawing/2014/main" id="{64E48E75-F979-DF19-48BF-22D6E3FF30BF}"/>
              </a:ext>
            </a:extLst>
          </p:cNvPr>
          <p:cNvSpPr txBox="1"/>
          <p:nvPr/>
        </p:nvSpPr>
        <p:spPr>
          <a:xfrm>
            <a:off x="275258" y="4038600"/>
            <a:ext cx="2514600" cy="369332"/>
          </a:xfrm>
          <a:prstGeom prst="rect">
            <a:avLst/>
          </a:prstGeom>
          <a:noFill/>
        </p:spPr>
        <p:txBody>
          <a:bodyPr wrap="square">
            <a:spAutoFit/>
          </a:bodyPr>
          <a:lstStyle/>
          <a:p>
            <a:r>
              <a:rPr lang="en-US" b="1" dirty="0">
                <a:solidFill>
                  <a:srgbClr val="FF0000"/>
                </a:solidFill>
              </a:rPr>
              <a:t>KEY INSIGHTS</a:t>
            </a:r>
            <a:endParaRPr lang="en-IN" b="1" dirty="0">
              <a:solidFill>
                <a:srgbClr val="FF0000"/>
              </a:solidFill>
            </a:endParaRPr>
          </a:p>
        </p:txBody>
      </p:sp>
    </p:spTree>
    <p:extLst>
      <p:ext uri="{BB962C8B-B14F-4D97-AF65-F5344CB8AC3E}">
        <p14:creationId xmlns:p14="http://schemas.microsoft.com/office/powerpoint/2010/main" val="3450176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1D60D0-31E7-E2F1-6A1F-8C463E269F71}"/>
              </a:ext>
            </a:extLst>
          </p:cNvPr>
          <p:cNvSpPr>
            <a:spLocks noChangeArrowheads="1"/>
          </p:cNvSpPr>
          <p:nvPr/>
        </p:nvSpPr>
        <p:spPr bwMode="auto">
          <a:xfrm>
            <a:off x="383458" y="956103"/>
            <a:ext cx="109728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successfully connects people, their jobs, their pay, and their time off. Instead of looking at different files, a manager can see everything about an employee in one click.</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Paychecks: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is smart. It doesn't just look at a "base salary"—it automatically adds bonuses and subtracts money for days someone was away (leaves) to find the exact final pay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Finding the "Stars":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looking at the qualification table, the company can easily see who has the most skills and who is ready for a promotion.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Budget Tracking: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shows which departments are the most expensive. For example, if "Engineering" costs way more than "Sales," the company can see exactly why.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Absence Trends: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 can see which years or which teams take the most sick leave, which might show where employees are feeling too much stress.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436F6259-9DC7-54D5-3247-62076440B4BC}"/>
              </a:ext>
            </a:extLst>
          </p:cNvPr>
          <p:cNvSpPr txBox="1"/>
          <p:nvPr/>
        </p:nvSpPr>
        <p:spPr>
          <a:xfrm>
            <a:off x="381000" y="381000"/>
            <a:ext cx="60960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0000"/>
                </a:solidFill>
                <a:effectLst/>
                <a:latin typeface="Arial" panose="020B0604020202020204" pitchFamily="34" charset="0"/>
              </a:rPr>
              <a:t>Final Insights</a:t>
            </a:r>
          </a:p>
        </p:txBody>
      </p:sp>
    </p:spTree>
    <p:extLst>
      <p:ext uri="{BB962C8B-B14F-4D97-AF65-F5344CB8AC3E}">
        <p14:creationId xmlns:p14="http://schemas.microsoft.com/office/powerpoint/2010/main" val="2115914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20334C-7C2D-A464-A69E-4B0497611F3B}"/>
              </a:ext>
            </a:extLst>
          </p:cNvPr>
          <p:cNvSpPr txBox="1"/>
          <p:nvPr/>
        </p:nvSpPr>
        <p:spPr>
          <a:xfrm>
            <a:off x="533400" y="1371600"/>
            <a:ext cx="10591800" cy="4401205"/>
          </a:xfrm>
          <a:prstGeom prst="rect">
            <a:avLst/>
          </a:prstGeom>
          <a:noFill/>
        </p:spPr>
        <p:txBody>
          <a:bodyPr wrap="square">
            <a:spAutoFit/>
          </a:body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Move People Around:</a:t>
            </a:r>
            <a:r>
              <a:rPr lang="en-US" sz="2000" dirty="0">
                <a:latin typeface="Times New Roman" panose="02020603050405020304" pitchFamily="18" charset="0"/>
                <a:cs typeface="Times New Roman" panose="02020603050405020304" pitchFamily="18" charset="0"/>
              </a:rPr>
              <a:t> If the data shows one department has too many people and another is struggling, the company should move employees to where they are needed most.</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Train from Within:</a:t>
            </a:r>
            <a:r>
              <a:rPr lang="en-US" sz="2000" dirty="0">
                <a:latin typeface="Times New Roman" panose="02020603050405020304" pitchFamily="18" charset="0"/>
                <a:cs typeface="Times New Roman" panose="02020603050405020304" pitchFamily="18" charset="0"/>
              </a:rPr>
              <a:t> Since we know which jobs need the most qualifications, the company should offer classes to current employees so they can get promoted into those roles.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Plan for Busy Months:</a:t>
            </a:r>
            <a:r>
              <a:rPr lang="en-US" sz="2000" dirty="0">
                <a:latin typeface="Times New Roman" panose="02020603050405020304" pitchFamily="18" charset="0"/>
                <a:cs typeface="Times New Roman" panose="02020603050405020304" pitchFamily="18" charset="0"/>
              </a:rPr>
              <a:t> Because the system tracks when people take leaves, the company can predict which months will be "short-staffed" and plan ahead.</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Check High Expenses:</a:t>
            </a:r>
            <a:r>
              <a:rPr lang="en-US" sz="2000" dirty="0">
                <a:latin typeface="Times New Roman" panose="02020603050405020304" pitchFamily="18" charset="0"/>
                <a:cs typeface="Times New Roman" panose="02020603050405020304" pitchFamily="18" charset="0"/>
              </a:rPr>
              <a:t> If one department’s total pay is very high, managers should check if those roles are bringing in enough value to match the cost.</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Keep Data Clean:</a:t>
            </a:r>
            <a:r>
              <a:rPr lang="en-US" sz="2000" dirty="0">
                <a:latin typeface="Times New Roman" panose="02020603050405020304" pitchFamily="18" charset="0"/>
                <a:cs typeface="Times New Roman" panose="02020603050405020304" pitchFamily="18" charset="0"/>
              </a:rPr>
              <a:t> To keep the system working perfectly, HR should make sure to delete old employee records so the "Total Employee Count" is always 100% accurate</a:t>
            </a:r>
          </a:p>
        </p:txBody>
      </p:sp>
      <p:sp>
        <p:nvSpPr>
          <p:cNvPr id="5" name="TextBox 4">
            <a:extLst>
              <a:ext uri="{FF2B5EF4-FFF2-40B4-BE49-F238E27FC236}">
                <a16:creationId xmlns:a16="http://schemas.microsoft.com/office/drawing/2014/main" id="{52900216-C959-4AB4-8F47-D9248913A4B0}"/>
              </a:ext>
            </a:extLst>
          </p:cNvPr>
          <p:cNvSpPr txBox="1"/>
          <p:nvPr/>
        </p:nvSpPr>
        <p:spPr>
          <a:xfrm>
            <a:off x="381000" y="533400"/>
            <a:ext cx="6096000" cy="523220"/>
          </a:xfrm>
          <a:prstGeom prst="rect">
            <a:avLst/>
          </a:prstGeom>
          <a:noFill/>
        </p:spPr>
        <p:txBody>
          <a:bodyPr wrap="square">
            <a:spAutoFit/>
          </a:bodyPr>
          <a:lstStyle/>
          <a:p>
            <a:pPr>
              <a:buNone/>
            </a:pPr>
            <a:r>
              <a:rPr lang="en-US" sz="2800" b="1" dirty="0">
                <a:solidFill>
                  <a:srgbClr val="FF0000"/>
                </a:solidFill>
              </a:rPr>
              <a:t>Recommendations</a:t>
            </a:r>
          </a:p>
        </p:txBody>
      </p:sp>
    </p:spTree>
    <p:extLst>
      <p:ext uri="{BB962C8B-B14F-4D97-AF65-F5344CB8AC3E}">
        <p14:creationId xmlns:p14="http://schemas.microsoft.com/office/powerpoint/2010/main" val="160270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1C68B9-949B-142F-76CA-F898F0EDE41B}"/>
              </a:ext>
            </a:extLst>
          </p:cNvPr>
          <p:cNvSpPr txBox="1"/>
          <p:nvPr/>
        </p:nvSpPr>
        <p:spPr>
          <a:xfrm>
            <a:off x="381000" y="1676400"/>
            <a:ext cx="11201400" cy="2246769"/>
          </a:xfrm>
          <a:prstGeom prst="rect">
            <a:avLst/>
          </a:prstGeom>
          <a:noFill/>
        </p:spPr>
        <p:txBody>
          <a:bodyPr wrap="square">
            <a:spAutoFit/>
          </a:bodyPr>
          <a:lstStyle/>
          <a:p>
            <a:pPr algn="l">
              <a:buNone/>
            </a:pPr>
            <a:r>
              <a:rPr lang="en-US" sz="2000" dirty="0">
                <a:latin typeface="Times New Roman" panose="02020603050405020304" pitchFamily="18" charset="0"/>
                <a:cs typeface="Times New Roman" panose="02020603050405020304" pitchFamily="18" charset="0"/>
              </a:rPr>
              <a:t>The Employee Management System successfully integrates personal, professional, and financial data into a single automated platform, ensuring that employee records and payroll calculations are both accurate and easy to manage. By uncovering key patterns in departmental spending, high-value skills, and leave-related deductions, the system provides managers with the essential insights needed to optimize their budget and reward top performers. Moving forward, the organization should use this data to plan for future staffing needs, offer targeted training for complex roles, and maintain high data integrity for long-term business growth.</a:t>
            </a:r>
            <a:endParaRPr lang="en-US" sz="2000" b="0" dirty="0">
              <a:solidFill>
                <a:srgbClr val="E3E3E3"/>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AC90AE2-2416-2938-1C14-C8488974D17E}"/>
              </a:ext>
            </a:extLst>
          </p:cNvPr>
          <p:cNvSpPr txBox="1"/>
          <p:nvPr/>
        </p:nvSpPr>
        <p:spPr>
          <a:xfrm>
            <a:off x="533400" y="762000"/>
            <a:ext cx="6096000" cy="523220"/>
          </a:xfrm>
          <a:prstGeom prst="rect">
            <a:avLst/>
          </a:prstGeom>
          <a:noFill/>
        </p:spPr>
        <p:txBody>
          <a:bodyPr wrap="square">
            <a:spAutoFit/>
          </a:bodyPr>
          <a:lstStyle/>
          <a:p>
            <a:r>
              <a:rPr lang="en-IN" sz="2800" b="1" dirty="0">
                <a:solidFill>
                  <a:srgbClr val="FF0000"/>
                </a:solidFill>
              </a:rPr>
              <a:t>Conclusion</a:t>
            </a:r>
          </a:p>
        </p:txBody>
      </p:sp>
    </p:spTree>
    <p:extLst>
      <p:ext uri="{BB962C8B-B14F-4D97-AF65-F5344CB8AC3E}">
        <p14:creationId xmlns:p14="http://schemas.microsoft.com/office/powerpoint/2010/main" val="2871955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599" y="2997200"/>
            <a:ext cx="4741421"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a:t>
            </a:r>
          </a:p>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YOU</a:t>
            </a:r>
            <a:endParaRPr sz="1800" b="0" i="0" u="none" strike="noStrike" cap="none"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740</TotalTime>
  <Words>1690</Words>
  <Application>Microsoft Office PowerPoint</Application>
  <PresentationFormat>Widescreen</PresentationFormat>
  <Paragraphs>141</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Libre Baskerville</vt:lpstr>
      <vt:lpstr>Tahoma</vt:lpstr>
      <vt:lpstr>Times New Roman</vt:lpstr>
      <vt:lpstr>Wingdings</vt:lpstr>
      <vt:lpstr>Office Theme</vt:lpstr>
      <vt:lpstr>Employee Management System </vt:lpstr>
      <vt:lpstr>Agenda</vt:lpstr>
      <vt:lpstr>Introduction</vt:lpstr>
      <vt:lpstr>Objective</vt:lpstr>
      <vt:lpstr>This project includes 6 interrelated tables: </vt:lpstr>
      <vt:lpstr>ABOUT TABLES</vt:lpstr>
      <vt:lpstr>PowerPoint Presentation</vt:lpstr>
      <vt:lpstr>ER Diagram and schema explanation</vt:lpstr>
      <vt:lpstr>  EMPLOYEE INSIGHTS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Aravind</dc:creator>
  <cp:lastModifiedBy>Aravindbhukya@outlook.com</cp:lastModifiedBy>
  <cp:revision>12</cp:revision>
  <dcterms:created xsi:type="dcterms:W3CDTF">2026-04-03T08:05:22Z</dcterms:created>
  <dcterms:modified xsi:type="dcterms:W3CDTF">2026-04-07T09:30:17Z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2025-10-19T00:00:00Z</vt:filetime>
  </property>
  <property fmtid="{D5CDD505-2E9C-101B-9397-08002B2CF9AE}" pid="3" name="LastSaved">
    <vt:filetime>2026-04-03T00:00:00Z</vt:filetime>
  </property>
</Properties>
</file>